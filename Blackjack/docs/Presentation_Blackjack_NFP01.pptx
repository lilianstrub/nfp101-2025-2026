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27" d="100"/>
          <a:sy n="127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811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~20 s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présenter</a:t>
            </a:r>
            <a:r>
              <a:rPr dirty="0"/>
              <a:t>, </a:t>
            </a:r>
            <a:r>
              <a:rPr dirty="0" err="1"/>
              <a:t>annoncer</a:t>
            </a:r>
            <a:r>
              <a:rPr dirty="0"/>
              <a:t> le </a:t>
            </a:r>
            <a:r>
              <a:rPr dirty="0" err="1"/>
              <a:t>sujet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phrase, et donner le plan + la durée.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« Bonjour, je </a:t>
            </a:r>
            <a:r>
              <a:rPr dirty="0" err="1"/>
              <a:t>m'appelle</a:t>
            </a:r>
            <a:r>
              <a:rPr dirty="0"/>
              <a:t> Lilian Strub, je </a:t>
            </a:r>
            <a:r>
              <a:rPr dirty="0" err="1"/>
              <a:t>présente</a:t>
            </a:r>
            <a:r>
              <a:rPr dirty="0"/>
              <a:t> </a:t>
            </a:r>
            <a:r>
              <a:rPr dirty="0" err="1"/>
              <a:t>mon</a:t>
            </a:r>
            <a:r>
              <a:rPr dirty="0"/>
              <a:t> </a:t>
            </a:r>
            <a:r>
              <a:rPr dirty="0" err="1"/>
              <a:t>projet</a:t>
            </a:r>
            <a:r>
              <a:rPr dirty="0"/>
              <a:t> du module NFP01, </a:t>
            </a:r>
            <a:r>
              <a:rPr dirty="0" err="1"/>
              <a:t>Programmation</a:t>
            </a:r>
            <a:r>
              <a:rPr dirty="0"/>
              <a:t> </a:t>
            </a:r>
            <a:r>
              <a:rPr dirty="0" err="1"/>
              <a:t>Orientée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. »</a:t>
            </a:r>
          </a:p>
          <a:p>
            <a:r>
              <a:rPr dirty="0"/>
              <a:t>Pitch </a:t>
            </a:r>
            <a:r>
              <a:rPr dirty="0" err="1"/>
              <a:t>en</a:t>
            </a:r>
            <a:r>
              <a:rPr dirty="0"/>
              <a:t> UNE phrase simple : « </a:t>
            </a:r>
            <a:r>
              <a:rPr dirty="0" err="1"/>
              <a:t>J'ai</a:t>
            </a:r>
            <a:r>
              <a:rPr dirty="0"/>
              <a:t> </a:t>
            </a:r>
            <a:r>
              <a:rPr dirty="0" err="1"/>
              <a:t>créé</a:t>
            </a:r>
            <a:r>
              <a:rPr dirty="0"/>
              <a:t> un jeu de Blackjack </a:t>
            </a:r>
            <a:r>
              <a:rPr dirty="0" err="1"/>
              <a:t>en</a:t>
            </a:r>
            <a:r>
              <a:rPr dirty="0"/>
              <a:t> Python qui, </a:t>
            </a:r>
            <a:r>
              <a:rPr dirty="0" err="1"/>
              <a:t>en</a:t>
            </a:r>
            <a:r>
              <a:rPr dirty="0"/>
              <a:t> plus de faire </a:t>
            </a:r>
            <a:r>
              <a:rPr dirty="0" err="1"/>
              <a:t>jouer</a:t>
            </a:r>
            <a:r>
              <a:rPr dirty="0"/>
              <a:t>, affiche le </a:t>
            </a:r>
            <a:r>
              <a:rPr dirty="0" err="1"/>
              <a:t>meilleur</a:t>
            </a:r>
            <a:r>
              <a:rPr dirty="0"/>
              <a:t> coup à </a:t>
            </a:r>
            <a:r>
              <a:rPr dirty="0" err="1"/>
              <a:t>jouer</a:t>
            </a:r>
            <a:r>
              <a:rPr dirty="0"/>
              <a:t> et </a:t>
            </a:r>
            <a:r>
              <a:rPr dirty="0" err="1"/>
              <a:t>mesure</a:t>
            </a:r>
            <a:r>
              <a:rPr dirty="0"/>
              <a:t> quelle </a:t>
            </a:r>
            <a:r>
              <a:rPr dirty="0" err="1"/>
              <a:t>stratégie</a:t>
            </a:r>
            <a:r>
              <a:rPr dirty="0"/>
              <a:t> </a:t>
            </a:r>
            <a:r>
              <a:rPr dirty="0" err="1"/>
              <a:t>rapporte</a:t>
            </a:r>
            <a:r>
              <a:rPr dirty="0"/>
              <a:t> le plus. »</a:t>
            </a:r>
          </a:p>
          <a:p>
            <a:r>
              <a:rPr dirty="0" err="1"/>
              <a:t>Annoncer</a:t>
            </a:r>
            <a:r>
              <a:rPr dirty="0"/>
              <a:t> le plan : « Je </a:t>
            </a:r>
            <a:r>
              <a:rPr dirty="0" err="1"/>
              <a:t>vais</a:t>
            </a:r>
            <a:r>
              <a:rPr dirty="0"/>
              <a:t> </a:t>
            </a:r>
            <a:r>
              <a:rPr dirty="0" err="1"/>
              <a:t>d'abord</a:t>
            </a:r>
            <a:r>
              <a:rPr dirty="0"/>
              <a:t> </a:t>
            </a:r>
            <a:r>
              <a:rPr dirty="0" err="1"/>
              <a:t>expliquer</a:t>
            </a:r>
            <a:r>
              <a:rPr dirty="0"/>
              <a:t> </a:t>
            </a:r>
            <a:r>
              <a:rPr dirty="0" err="1"/>
              <a:t>pourquoi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sujet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vous </a:t>
            </a:r>
            <a:r>
              <a:rPr dirty="0" err="1"/>
              <a:t>montrer</a:t>
            </a:r>
            <a:r>
              <a:rPr dirty="0"/>
              <a:t> le jeu </a:t>
            </a:r>
            <a:r>
              <a:rPr dirty="0" err="1"/>
              <a:t>en</a:t>
            </a:r>
            <a:r>
              <a:rPr dirty="0"/>
              <a:t> direct, ensuite comment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construit</a:t>
            </a:r>
            <a:r>
              <a:rPr dirty="0"/>
              <a:t>, et </a:t>
            </a:r>
            <a:r>
              <a:rPr dirty="0" err="1"/>
              <a:t>enfin</a:t>
            </a:r>
            <a:r>
              <a:rPr dirty="0"/>
              <a:t> les tests et le </a:t>
            </a:r>
            <a:r>
              <a:rPr dirty="0" err="1"/>
              <a:t>bilan</a:t>
            </a:r>
            <a:r>
              <a:rPr dirty="0"/>
              <a:t>. »</a:t>
            </a:r>
          </a:p>
          <a:p>
            <a:r>
              <a:rPr dirty="0"/>
              <a:t>Donner la durée : « </a:t>
            </a:r>
            <a:r>
              <a:rPr dirty="0" err="1"/>
              <a:t>Comptez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vingtaine de minutes, </a:t>
            </a:r>
            <a:r>
              <a:rPr dirty="0" err="1"/>
              <a:t>dont</a:t>
            </a:r>
            <a:r>
              <a:rPr dirty="0"/>
              <a:t> 5 minutes de </a:t>
            </a:r>
            <a:r>
              <a:rPr dirty="0" err="1"/>
              <a:t>démonstration</a:t>
            </a:r>
            <a:r>
              <a:rPr dirty="0"/>
              <a:t>. »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</a:t>
            </a:r>
            <a:r>
              <a:rPr dirty="0" err="1"/>
              <a:t>Reste</a:t>
            </a:r>
            <a:r>
              <a:rPr dirty="0"/>
              <a:t> </a:t>
            </a:r>
            <a:r>
              <a:rPr dirty="0" err="1"/>
              <a:t>debout</a:t>
            </a:r>
            <a:r>
              <a:rPr dirty="0"/>
              <a:t>, </a:t>
            </a:r>
            <a:r>
              <a:rPr dirty="0" err="1"/>
              <a:t>regarde</a:t>
            </a:r>
            <a:r>
              <a:rPr dirty="0"/>
              <a:t> le jury (pas </a:t>
            </a:r>
            <a:r>
              <a:rPr dirty="0" err="1"/>
              <a:t>l'écran</a:t>
            </a:r>
            <a:r>
              <a:rPr dirty="0"/>
              <a:t>), </a:t>
            </a:r>
            <a:r>
              <a:rPr dirty="0" err="1"/>
              <a:t>souris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un jeu, </a:t>
            </a:r>
            <a:r>
              <a:rPr dirty="0" err="1"/>
              <a:t>l'ambiance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détendue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~30 s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Donner le fil rouge pour </a:t>
            </a:r>
            <a:r>
              <a:rPr dirty="0" err="1"/>
              <a:t>que</a:t>
            </a:r>
            <a:r>
              <a:rPr dirty="0"/>
              <a:t> le jury </a:t>
            </a:r>
            <a:r>
              <a:rPr dirty="0" err="1"/>
              <a:t>sache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on </a:t>
            </a:r>
            <a:r>
              <a:rPr dirty="0" err="1"/>
              <a:t>en</a:t>
            </a:r>
            <a:r>
              <a:rPr dirty="0"/>
              <a:t> est (</a:t>
            </a:r>
            <a:r>
              <a:rPr dirty="0" err="1"/>
              <a:t>critère</a:t>
            </a:r>
            <a:r>
              <a:rPr dirty="0"/>
              <a:t> « </a:t>
            </a:r>
            <a:r>
              <a:rPr dirty="0" err="1"/>
              <a:t>clarté</a:t>
            </a:r>
            <a:r>
              <a:rPr dirty="0"/>
              <a:t> &amp; narration »).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Lire </a:t>
            </a:r>
            <a:r>
              <a:rPr dirty="0" err="1"/>
              <a:t>rapidement</a:t>
            </a:r>
            <a:r>
              <a:rPr dirty="0"/>
              <a:t> les </a:t>
            </a:r>
            <a:r>
              <a:rPr dirty="0" err="1"/>
              <a:t>grandes</a:t>
            </a:r>
            <a:r>
              <a:rPr dirty="0"/>
              <a:t> étapes, sans </a:t>
            </a:r>
            <a:r>
              <a:rPr dirty="0" err="1"/>
              <a:t>détailler</a:t>
            </a:r>
            <a:r>
              <a:rPr dirty="0"/>
              <a:t>.</a:t>
            </a:r>
          </a:p>
          <a:p>
            <a:r>
              <a:rPr dirty="0" err="1"/>
              <a:t>Préciser</a:t>
            </a:r>
            <a:r>
              <a:rPr dirty="0"/>
              <a:t> le moment fort : « Le </a:t>
            </a:r>
            <a:r>
              <a:rPr dirty="0" err="1"/>
              <a:t>cœur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 la </a:t>
            </a:r>
            <a:r>
              <a:rPr dirty="0" err="1"/>
              <a:t>démonstration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direct, au milieu de la </a:t>
            </a:r>
            <a:r>
              <a:rPr dirty="0" err="1"/>
              <a:t>présentation</a:t>
            </a:r>
            <a:r>
              <a:rPr dirty="0"/>
              <a:t>. »</a:t>
            </a:r>
          </a:p>
          <a:p>
            <a:r>
              <a:rPr dirty="0" err="1"/>
              <a:t>Rassurer</a:t>
            </a:r>
            <a:r>
              <a:rPr dirty="0"/>
              <a:t> les non-</a:t>
            </a:r>
            <a:r>
              <a:rPr dirty="0" err="1"/>
              <a:t>initiés</a:t>
            </a:r>
            <a:r>
              <a:rPr dirty="0"/>
              <a:t> : « Pas </a:t>
            </a:r>
            <a:r>
              <a:rPr dirty="0" err="1"/>
              <a:t>besoin</a:t>
            </a:r>
            <a:r>
              <a:rPr dirty="0"/>
              <a:t> de </a:t>
            </a:r>
            <a:r>
              <a:rPr dirty="0" err="1"/>
              <a:t>connaître</a:t>
            </a:r>
            <a:r>
              <a:rPr dirty="0"/>
              <a:t> le blackjack, je </a:t>
            </a:r>
            <a:r>
              <a:rPr dirty="0" err="1"/>
              <a:t>fais</a:t>
            </a:r>
            <a:r>
              <a:rPr dirty="0"/>
              <a:t> un rappel des </a:t>
            </a:r>
            <a:r>
              <a:rPr dirty="0" err="1"/>
              <a:t>règles</a:t>
            </a:r>
            <a:r>
              <a:rPr dirty="0"/>
              <a:t> </a:t>
            </a:r>
            <a:r>
              <a:rPr dirty="0" err="1"/>
              <a:t>juste</a:t>
            </a:r>
            <a:r>
              <a:rPr dirty="0"/>
              <a:t> après. »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Ne </a:t>
            </a:r>
            <a:r>
              <a:rPr dirty="0" err="1"/>
              <a:t>reste</a:t>
            </a:r>
            <a:r>
              <a:rPr dirty="0"/>
              <a:t> pas plus de 30 s sur </a:t>
            </a:r>
            <a:r>
              <a:rPr dirty="0" err="1"/>
              <a:t>cette</a:t>
            </a:r>
            <a:r>
              <a:rPr dirty="0"/>
              <a:t>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juste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boussole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 30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Poser le PROBLÈME avant de </a:t>
            </a:r>
            <a:r>
              <a:rPr dirty="0" err="1"/>
              <a:t>montrer</a:t>
            </a:r>
            <a:r>
              <a:rPr dirty="0"/>
              <a:t> la solution.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rend le </a:t>
            </a:r>
            <a:r>
              <a:rPr dirty="0" err="1"/>
              <a:t>projet</a:t>
            </a:r>
            <a:r>
              <a:rPr dirty="0"/>
              <a:t> « utile ».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Raconter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image simple : «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vraie</a:t>
            </a:r>
            <a:r>
              <a:rPr dirty="0"/>
              <a:t> table, le </a:t>
            </a:r>
            <a:r>
              <a:rPr dirty="0" err="1"/>
              <a:t>débutant</a:t>
            </a:r>
            <a:r>
              <a:rPr dirty="0"/>
              <a:t> </a:t>
            </a:r>
            <a:r>
              <a:rPr dirty="0" err="1"/>
              <a:t>joue</a:t>
            </a:r>
            <a:r>
              <a:rPr dirty="0"/>
              <a:t> à </a:t>
            </a:r>
            <a:r>
              <a:rPr dirty="0" err="1"/>
              <a:t>l'instinct</a:t>
            </a:r>
            <a:r>
              <a:rPr dirty="0"/>
              <a:t>… et </a:t>
            </a:r>
            <a:r>
              <a:rPr dirty="0" err="1"/>
              <a:t>perd</a:t>
            </a:r>
            <a:r>
              <a:rPr dirty="0"/>
              <a:t>. »</a:t>
            </a:r>
          </a:p>
          <a:p>
            <a:r>
              <a:rPr dirty="0" err="1"/>
              <a:t>Expliquer</a:t>
            </a:r>
            <a:r>
              <a:rPr dirty="0"/>
              <a:t> </a:t>
            </a:r>
            <a:r>
              <a:rPr dirty="0" err="1"/>
              <a:t>l'idée</a:t>
            </a:r>
            <a:r>
              <a:rPr dirty="0"/>
              <a:t> centrale : « Mon </a:t>
            </a:r>
            <a:r>
              <a:rPr dirty="0" err="1"/>
              <a:t>outil</a:t>
            </a:r>
            <a:r>
              <a:rPr dirty="0"/>
              <a:t> affiche le bon coup à </a:t>
            </a:r>
            <a:r>
              <a:rPr dirty="0" err="1"/>
              <a:t>jouer</a:t>
            </a:r>
            <a:r>
              <a:rPr dirty="0"/>
              <a:t> ET </a:t>
            </a:r>
            <a:r>
              <a:rPr dirty="0" err="1"/>
              <a:t>l'explique</a:t>
            </a:r>
            <a:r>
              <a:rPr dirty="0"/>
              <a:t> : on </a:t>
            </a:r>
            <a:r>
              <a:rPr dirty="0" err="1"/>
              <a:t>apprend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jouant</a:t>
            </a:r>
            <a:r>
              <a:rPr dirty="0"/>
              <a:t>. »</a:t>
            </a:r>
          </a:p>
          <a:p>
            <a:r>
              <a:rPr dirty="0"/>
              <a:t>Faire le lien avec le </a:t>
            </a:r>
            <a:r>
              <a:rPr dirty="0" err="1"/>
              <a:t>cours</a:t>
            </a:r>
            <a:r>
              <a:rPr dirty="0"/>
              <a:t> : « Le </a:t>
            </a:r>
            <a:r>
              <a:rPr dirty="0" err="1"/>
              <a:t>sujet</a:t>
            </a:r>
            <a:r>
              <a:rPr dirty="0"/>
              <a:t> </a:t>
            </a:r>
            <a:r>
              <a:rPr dirty="0" err="1"/>
              <a:t>était</a:t>
            </a:r>
            <a:r>
              <a:rPr dirty="0"/>
              <a:t> libre ; </a:t>
            </a:r>
            <a:r>
              <a:rPr dirty="0" err="1"/>
              <a:t>j'ai</a:t>
            </a:r>
            <a:r>
              <a:rPr dirty="0"/>
              <a:t> </a:t>
            </a:r>
            <a:r>
              <a:rPr dirty="0" err="1"/>
              <a:t>choisi</a:t>
            </a:r>
            <a:r>
              <a:rPr dirty="0"/>
              <a:t> un </a:t>
            </a:r>
            <a:r>
              <a:rPr dirty="0" err="1"/>
              <a:t>domaine</a:t>
            </a:r>
            <a:r>
              <a:rPr dirty="0"/>
              <a:t> </a:t>
            </a:r>
            <a:r>
              <a:rPr dirty="0" err="1"/>
              <a:t>assez</a:t>
            </a:r>
            <a:r>
              <a:rPr dirty="0"/>
              <a:t> riche pour </a:t>
            </a:r>
            <a:r>
              <a:rPr dirty="0" err="1"/>
              <a:t>illustrer</a:t>
            </a:r>
            <a:r>
              <a:rPr dirty="0"/>
              <a:t> la </a:t>
            </a:r>
            <a:r>
              <a:rPr dirty="0" err="1"/>
              <a:t>programmation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. »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le moment « </a:t>
            </a:r>
            <a:r>
              <a:rPr dirty="0" err="1"/>
              <a:t>accroche</a:t>
            </a:r>
            <a:r>
              <a:rPr dirty="0"/>
              <a:t> » : </a:t>
            </a:r>
            <a:r>
              <a:rPr dirty="0" err="1"/>
              <a:t>prends</a:t>
            </a:r>
            <a:r>
              <a:rPr dirty="0"/>
              <a:t> ton temps,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l'histoire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racontes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Si le jury </a:t>
            </a:r>
            <a:r>
              <a:rPr dirty="0" err="1"/>
              <a:t>demande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« </a:t>
            </a:r>
            <a:r>
              <a:rPr dirty="0" err="1"/>
              <a:t>Compter</a:t>
            </a:r>
            <a:r>
              <a:rPr dirty="0"/>
              <a:t> les </a:t>
            </a:r>
            <a:r>
              <a:rPr dirty="0" err="1"/>
              <a:t>cartes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interdit</a:t>
            </a:r>
            <a:r>
              <a:rPr dirty="0"/>
              <a:t> ? »  →  Non,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légal</a:t>
            </a:r>
            <a:r>
              <a:rPr dirty="0"/>
              <a:t> ;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juste</a:t>
            </a:r>
            <a:r>
              <a:rPr dirty="0"/>
              <a:t> mal vu et les casinos </a:t>
            </a:r>
            <a:r>
              <a:rPr dirty="0" err="1"/>
              <a:t>peuvent</a:t>
            </a:r>
            <a:r>
              <a:rPr dirty="0"/>
              <a:t> refuser un </a:t>
            </a:r>
            <a:r>
              <a:rPr dirty="0" err="1"/>
              <a:t>joueur</a:t>
            </a:r>
            <a:r>
              <a:rPr dirty="0"/>
              <a:t>. </a:t>
            </a:r>
            <a:r>
              <a:rPr dirty="0" err="1"/>
              <a:t>Ici</a:t>
            </a:r>
            <a:r>
              <a:rPr dirty="0"/>
              <a:t> </a:t>
            </a:r>
            <a:r>
              <a:rPr dirty="0" err="1"/>
              <a:t>c'est</a:t>
            </a:r>
            <a:r>
              <a:rPr dirty="0"/>
              <a:t> un </a:t>
            </a:r>
            <a:r>
              <a:rPr dirty="0" err="1"/>
              <a:t>outil</a:t>
            </a:r>
            <a:r>
              <a:rPr dirty="0"/>
              <a:t> </a:t>
            </a:r>
            <a:r>
              <a:rPr dirty="0" err="1"/>
              <a:t>pédagogique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Annoncer</a:t>
            </a:r>
            <a:r>
              <a:rPr dirty="0"/>
              <a:t> la </a:t>
            </a:r>
            <a:r>
              <a:rPr dirty="0" err="1"/>
              <a:t>valeur</a:t>
            </a:r>
            <a:r>
              <a:rPr dirty="0"/>
              <a:t> du </a:t>
            </a:r>
            <a:r>
              <a:rPr dirty="0" err="1"/>
              <a:t>projet</a:t>
            </a:r>
            <a:r>
              <a:rPr dirty="0"/>
              <a:t> et </a:t>
            </a:r>
            <a:r>
              <a:rPr dirty="0" err="1"/>
              <a:t>distinguer</a:t>
            </a:r>
            <a:r>
              <a:rPr dirty="0"/>
              <a:t> </a:t>
            </a:r>
            <a:r>
              <a:rPr dirty="0" err="1"/>
              <a:t>l'essentiel</a:t>
            </a:r>
            <a:r>
              <a:rPr dirty="0"/>
              <a:t> des bonus.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Distinguer</a:t>
            </a:r>
            <a:r>
              <a:rPr dirty="0"/>
              <a:t> le CŒUR (</a:t>
            </a:r>
            <a:r>
              <a:rPr dirty="0" err="1"/>
              <a:t>jouer</a:t>
            </a:r>
            <a:r>
              <a:rPr dirty="0"/>
              <a:t> + conseil) des BONUS (simulation, </a:t>
            </a:r>
            <a:r>
              <a:rPr dirty="0" err="1"/>
              <a:t>sauvegarde</a:t>
            </a:r>
            <a:r>
              <a:rPr dirty="0"/>
              <a:t>, musique).</a:t>
            </a:r>
          </a:p>
          <a:p>
            <a:r>
              <a:rPr dirty="0"/>
              <a:t>Phrase à </a:t>
            </a:r>
            <a:r>
              <a:rPr dirty="0" err="1"/>
              <a:t>retenir</a:t>
            </a:r>
            <a:r>
              <a:rPr dirty="0"/>
              <a:t> : « </a:t>
            </a:r>
            <a:r>
              <a:rPr dirty="0" err="1"/>
              <a:t>C'est</a:t>
            </a:r>
            <a:r>
              <a:rPr dirty="0"/>
              <a:t> un </a:t>
            </a:r>
            <a:r>
              <a:rPr dirty="0" err="1"/>
              <a:t>outil</a:t>
            </a:r>
            <a:r>
              <a:rPr dirty="0"/>
              <a:t> </a:t>
            </a:r>
            <a:r>
              <a:rPr dirty="0" err="1"/>
              <a:t>d'apprentissage</a:t>
            </a:r>
            <a:r>
              <a:rPr dirty="0"/>
              <a:t>, pas </a:t>
            </a:r>
            <a:r>
              <a:rPr dirty="0" err="1"/>
              <a:t>seulement</a:t>
            </a:r>
            <a:r>
              <a:rPr dirty="0"/>
              <a:t> un jeu. »</a:t>
            </a:r>
          </a:p>
          <a:p>
            <a:r>
              <a:rPr dirty="0" err="1"/>
              <a:t>Annoncer</a:t>
            </a:r>
            <a:r>
              <a:rPr dirty="0"/>
              <a:t> la suite : « Avant la </a:t>
            </a:r>
            <a:r>
              <a:rPr dirty="0" err="1"/>
              <a:t>démo</a:t>
            </a:r>
            <a:r>
              <a:rPr dirty="0"/>
              <a:t>, 30 </a:t>
            </a:r>
            <a:r>
              <a:rPr dirty="0" err="1"/>
              <a:t>secondes</a:t>
            </a:r>
            <a:r>
              <a:rPr dirty="0"/>
              <a:t> de </a:t>
            </a:r>
            <a:r>
              <a:rPr dirty="0" err="1"/>
              <a:t>règles</a:t>
            </a:r>
            <a:r>
              <a:rPr dirty="0"/>
              <a:t> pour tout le monde.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~45 s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Mettre</a:t>
            </a:r>
            <a:r>
              <a:rPr dirty="0"/>
              <a:t> TOUT le jury au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 avant la </a:t>
            </a:r>
            <a:r>
              <a:rPr dirty="0" err="1"/>
              <a:t>démo</a:t>
            </a:r>
            <a:r>
              <a:rPr dirty="0"/>
              <a:t>. Indispensable pour les non-</a:t>
            </a:r>
            <a:r>
              <a:rPr dirty="0" err="1"/>
              <a:t>joueurs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Aller </a:t>
            </a:r>
            <a:r>
              <a:rPr dirty="0" err="1"/>
              <a:t>vite</a:t>
            </a:r>
            <a:r>
              <a:rPr dirty="0"/>
              <a:t> et </a:t>
            </a:r>
            <a:r>
              <a:rPr dirty="0" err="1"/>
              <a:t>concret</a:t>
            </a:r>
            <a:r>
              <a:rPr dirty="0"/>
              <a:t> : </a:t>
            </a:r>
            <a:r>
              <a:rPr dirty="0" err="1"/>
              <a:t>montrer</a:t>
            </a:r>
            <a:r>
              <a:rPr dirty="0"/>
              <a:t> avec les mains « plus </a:t>
            </a:r>
            <a:r>
              <a:rPr dirty="0" err="1"/>
              <a:t>proche</a:t>
            </a:r>
            <a:r>
              <a:rPr dirty="0"/>
              <a:t> de 21 </a:t>
            </a:r>
            <a:r>
              <a:rPr dirty="0" err="1"/>
              <a:t>que</a:t>
            </a:r>
            <a:r>
              <a:rPr dirty="0"/>
              <a:t> le croupier, sans </a:t>
            </a:r>
            <a:r>
              <a:rPr dirty="0" err="1"/>
              <a:t>dépasser</a:t>
            </a:r>
            <a:r>
              <a:rPr dirty="0"/>
              <a:t> ».</a:t>
            </a:r>
          </a:p>
          <a:p>
            <a:r>
              <a:rPr dirty="0"/>
              <a:t>Insister sur la carte </a:t>
            </a:r>
            <a:r>
              <a:rPr dirty="0" err="1"/>
              <a:t>cachée</a:t>
            </a:r>
            <a:r>
              <a:rPr dirty="0"/>
              <a:t> du croupier :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servira</a:t>
            </a:r>
            <a:r>
              <a:rPr dirty="0"/>
              <a:t> dans la </a:t>
            </a:r>
            <a:r>
              <a:rPr dirty="0" err="1"/>
              <a:t>partie</a:t>
            </a:r>
            <a:r>
              <a:rPr dirty="0"/>
              <a:t> technique (le </a:t>
            </a:r>
            <a:r>
              <a:rPr dirty="0" err="1"/>
              <a:t>comptage</a:t>
            </a:r>
            <a:r>
              <a:rPr dirty="0"/>
              <a:t>).</a:t>
            </a:r>
          </a:p>
          <a:p>
            <a:r>
              <a:rPr dirty="0"/>
              <a:t>Donner </a:t>
            </a:r>
            <a:r>
              <a:rPr dirty="0" err="1"/>
              <a:t>l'exemple</a:t>
            </a:r>
            <a:r>
              <a:rPr dirty="0"/>
              <a:t> du blackjack : « As + Roi = 21 </a:t>
            </a:r>
            <a:r>
              <a:rPr dirty="0" err="1"/>
              <a:t>d'entrée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 le jackpot. »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Tu </a:t>
            </a:r>
            <a:r>
              <a:rPr dirty="0" err="1"/>
              <a:t>peux</a:t>
            </a:r>
            <a:r>
              <a:rPr dirty="0"/>
              <a:t> mimer un tirage de carte : </a:t>
            </a:r>
            <a:r>
              <a:rPr dirty="0" err="1"/>
              <a:t>ça</a:t>
            </a:r>
            <a:r>
              <a:rPr dirty="0"/>
              <a:t> </a:t>
            </a:r>
            <a:r>
              <a:rPr dirty="0" err="1"/>
              <a:t>détend</a:t>
            </a:r>
            <a:r>
              <a:rPr dirty="0"/>
              <a:t> et </a:t>
            </a:r>
            <a:r>
              <a:rPr dirty="0" err="1"/>
              <a:t>ça</a:t>
            </a:r>
            <a:r>
              <a:rPr dirty="0"/>
              <a:t> aide les non-</a:t>
            </a:r>
            <a:r>
              <a:rPr dirty="0" err="1"/>
              <a:t>initiés</a:t>
            </a:r>
            <a:r>
              <a:rPr dirty="0"/>
              <a:t> à </a:t>
            </a:r>
            <a:r>
              <a:rPr dirty="0" err="1"/>
              <a:t>suivre</a:t>
            </a:r>
            <a:r>
              <a:rPr dirty="0"/>
              <a:t> la </a:t>
            </a:r>
            <a:r>
              <a:rPr dirty="0" err="1"/>
              <a:t>démo</a:t>
            </a:r>
            <a:r>
              <a:rPr dirty="0"/>
              <a:t> qui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 30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progression </a:t>
            </a:r>
            <a:r>
              <a:rPr dirty="0" err="1"/>
              <a:t>claire</a:t>
            </a:r>
            <a:r>
              <a:rPr dirty="0"/>
              <a:t> (</a:t>
            </a:r>
            <a:r>
              <a:rPr dirty="0" err="1"/>
              <a:t>critère</a:t>
            </a:r>
            <a:r>
              <a:rPr dirty="0"/>
              <a:t> « </a:t>
            </a:r>
            <a:r>
              <a:rPr dirty="0" err="1"/>
              <a:t>présentation</a:t>
            </a:r>
            <a:r>
              <a:rPr dirty="0"/>
              <a:t> </a:t>
            </a:r>
            <a:r>
              <a:rPr dirty="0" err="1"/>
              <a:t>complète</a:t>
            </a:r>
            <a:r>
              <a:rPr dirty="0"/>
              <a:t>, </a:t>
            </a:r>
            <a:r>
              <a:rPr dirty="0" err="1"/>
              <a:t>toutes</a:t>
            </a:r>
            <a:r>
              <a:rPr dirty="0"/>
              <a:t> les étapes »).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Raconter</a:t>
            </a:r>
            <a:r>
              <a:rPr dirty="0"/>
              <a:t> le </a:t>
            </a:r>
            <a:r>
              <a:rPr dirty="0" err="1"/>
              <a:t>sens</a:t>
            </a:r>
            <a:r>
              <a:rPr dirty="0"/>
              <a:t> de construction : « Je suis parti du </a:t>
            </a:r>
            <a:r>
              <a:rPr dirty="0" err="1"/>
              <a:t>cœur</a:t>
            </a:r>
            <a:r>
              <a:rPr dirty="0"/>
              <a:t> (les </a:t>
            </a:r>
            <a:r>
              <a:rPr dirty="0" err="1"/>
              <a:t>cartes</a:t>
            </a:r>
            <a:r>
              <a:rPr dirty="0"/>
              <a:t>) vers </a:t>
            </a:r>
            <a:r>
              <a:rPr dirty="0" err="1"/>
              <a:t>l'extérieur</a:t>
            </a:r>
            <a:r>
              <a:rPr dirty="0"/>
              <a:t> (</a:t>
            </a:r>
            <a:r>
              <a:rPr dirty="0" err="1"/>
              <a:t>l'écran</a:t>
            </a:r>
            <a:r>
              <a:rPr dirty="0"/>
              <a:t>), </a:t>
            </a:r>
            <a:r>
              <a:rPr dirty="0" err="1"/>
              <a:t>brique</a:t>
            </a:r>
            <a:r>
              <a:rPr dirty="0"/>
              <a:t> par </a:t>
            </a:r>
            <a:r>
              <a:rPr dirty="0" err="1"/>
              <a:t>brique</a:t>
            </a:r>
            <a:r>
              <a:rPr dirty="0"/>
              <a:t>. »</a:t>
            </a:r>
          </a:p>
          <a:p>
            <a:r>
              <a:rPr dirty="0" err="1"/>
              <a:t>Mentionner</a:t>
            </a:r>
            <a:r>
              <a:rPr dirty="0"/>
              <a:t> les </a:t>
            </a:r>
            <a:r>
              <a:rPr dirty="0" err="1"/>
              <a:t>itérations</a:t>
            </a:r>
            <a:r>
              <a:rPr dirty="0"/>
              <a:t> : « </a:t>
            </a:r>
            <a:r>
              <a:rPr dirty="0" err="1"/>
              <a:t>D'abord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version </a:t>
            </a:r>
            <a:r>
              <a:rPr dirty="0" err="1"/>
              <a:t>jouable</a:t>
            </a:r>
            <a:r>
              <a:rPr dirty="0"/>
              <a:t> simple,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j'ai</a:t>
            </a:r>
            <a:r>
              <a:rPr dirty="0"/>
              <a:t> </a:t>
            </a:r>
            <a:r>
              <a:rPr dirty="0" err="1"/>
              <a:t>enrichi</a:t>
            </a:r>
            <a:r>
              <a:rPr dirty="0"/>
              <a:t> : </a:t>
            </a:r>
            <a:r>
              <a:rPr dirty="0" err="1"/>
              <a:t>didacticiel</a:t>
            </a:r>
            <a:r>
              <a:rPr dirty="0"/>
              <a:t>, </a:t>
            </a:r>
            <a:r>
              <a:rPr dirty="0" err="1"/>
              <a:t>comptages</a:t>
            </a:r>
            <a:r>
              <a:rPr dirty="0"/>
              <a:t>, simulation. »</a:t>
            </a:r>
            <a:endParaRPr lang="fr-FR" dirty="0"/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Tu </a:t>
            </a:r>
            <a:r>
              <a:rPr dirty="0" err="1"/>
              <a:t>peux</a:t>
            </a:r>
            <a:r>
              <a:rPr dirty="0"/>
              <a:t> pointer </a:t>
            </a:r>
            <a:r>
              <a:rPr dirty="0" err="1"/>
              <a:t>l'écran</a:t>
            </a:r>
            <a:r>
              <a:rPr dirty="0"/>
              <a:t> de gauche à droite pour </a:t>
            </a:r>
            <a:r>
              <a:rPr dirty="0" err="1"/>
              <a:t>suivre</a:t>
            </a:r>
            <a:r>
              <a:rPr dirty="0"/>
              <a:t> les étapes 1 → 7.</a:t>
            </a:r>
          </a:p>
          <a:p>
            <a:endParaRPr dirty="0"/>
          </a:p>
          <a:p>
            <a:r>
              <a:rPr dirty="0"/>
              <a:t>Si le jury </a:t>
            </a:r>
            <a:r>
              <a:rPr dirty="0" err="1"/>
              <a:t>demande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« Combien de temps </a:t>
            </a:r>
            <a:r>
              <a:rPr dirty="0" err="1"/>
              <a:t>ça</a:t>
            </a:r>
            <a:r>
              <a:rPr dirty="0"/>
              <a:t> </a:t>
            </a:r>
            <a:r>
              <a:rPr dirty="0" err="1"/>
              <a:t>t'a</a:t>
            </a:r>
            <a:r>
              <a:rPr dirty="0"/>
              <a:t> pris ? »  →  Donne </a:t>
            </a:r>
            <a:r>
              <a:rPr dirty="0" err="1"/>
              <a:t>une</a:t>
            </a:r>
            <a:r>
              <a:rPr dirty="0"/>
              <a:t> fourchette </a:t>
            </a:r>
            <a:r>
              <a:rPr dirty="0" err="1"/>
              <a:t>honnête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jours</a:t>
            </a:r>
            <a:r>
              <a:rPr dirty="0"/>
              <a:t>/</a:t>
            </a:r>
            <a:r>
              <a:rPr dirty="0" err="1"/>
              <a:t>semaines</a:t>
            </a:r>
            <a:r>
              <a:rPr dirty="0"/>
              <a:t> de travail, par </a:t>
            </a:r>
            <a:r>
              <a:rPr dirty="0" err="1"/>
              <a:t>itérations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~15 s </a:t>
            </a:r>
            <a:r>
              <a:rPr dirty="0" err="1"/>
              <a:t>d'intro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4-5 min de </a:t>
            </a:r>
            <a:r>
              <a:rPr dirty="0" err="1"/>
              <a:t>démo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direct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Annoncer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voir,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basculer</a:t>
            </a:r>
            <a:r>
              <a:rPr dirty="0"/>
              <a:t> sur le terminal.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« Place à la </a:t>
            </a:r>
            <a:r>
              <a:rPr dirty="0" err="1"/>
              <a:t>démonstration</a:t>
            </a:r>
            <a:r>
              <a:rPr dirty="0"/>
              <a:t>. » Lancer la </a:t>
            </a:r>
            <a:r>
              <a:rPr dirty="0" err="1"/>
              <a:t>commande</a:t>
            </a:r>
            <a:r>
              <a:rPr dirty="0"/>
              <a:t> : python -m blackjack</a:t>
            </a:r>
          </a:p>
          <a:p>
            <a:r>
              <a:rPr dirty="0" err="1"/>
              <a:t>Annoncer</a:t>
            </a:r>
            <a:r>
              <a:rPr dirty="0"/>
              <a:t> le fil : menu → </a:t>
            </a:r>
            <a:r>
              <a:rPr dirty="0" err="1"/>
              <a:t>didacticiel</a:t>
            </a:r>
            <a:r>
              <a:rPr dirty="0"/>
              <a:t> → simulation → tests.</a:t>
            </a:r>
          </a:p>
          <a:p>
            <a:endParaRPr dirty="0"/>
          </a:p>
          <a:p>
            <a:r>
              <a:rPr dirty="0"/>
              <a:t>À </a:t>
            </a:r>
            <a:r>
              <a:rPr dirty="0" err="1"/>
              <a:t>montrer</a:t>
            </a:r>
            <a:r>
              <a:rPr dirty="0"/>
              <a:t> / </a:t>
            </a:r>
            <a:r>
              <a:rPr dirty="0" err="1"/>
              <a:t>préparer</a:t>
            </a:r>
            <a:r>
              <a:rPr dirty="0"/>
              <a:t> : Terminal large, police monospace, son </a:t>
            </a:r>
            <a:r>
              <a:rPr dirty="0" err="1"/>
              <a:t>activé</a:t>
            </a:r>
            <a:r>
              <a:rPr dirty="0"/>
              <a:t>. Lancer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partie</a:t>
            </a:r>
            <a:r>
              <a:rPr dirty="0"/>
              <a:t> AVANT la </a:t>
            </a:r>
            <a:r>
              <a:rPr dirty="0" err="1"/>
              <a:t>soutenance</a:t>
            </a:r>
            <a:r>
              <a:rPr dirty="0"/>
              <a:t> pour « chauffer » (sabot </a:t>
            </a:r>
            <a:r>
              <a:rPr dirty="0" err="1"/>
              <a:t>mélangé</a:t>
            </a:r>
            <a:r>
              <a:rPr dirty="0"/>
              <a:t>).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On MONTRE, on ne lit pas le code. Garde un </a:t>
            </a:r>
            <a:r>
              <a:rPr dirty="0" err="1"/>
              <a:t>œil</a:t>
            </a:r>
            <a:r>
              <a:rPr dirty="0"/>
              <a:t> sur le temps : la </a:t>
            </a:r>
            <a:r>
              <a:rPr dirty="0" err="1"/>
              <a:t>démo</a:t>
            </a:r>
            <a:r>
              <a:rPr dirty="0"/>
              <a:t> ne doit pas </a:t>
            </a:r>
            <a:r>
              <a:rPr dirty="0" err="1"/>
              <a:t>dépasser</a:t>
            </a:r>
            <a:r>
              <a:rPr dirty="0"/>
              <a:t> 5 min. Si </a:t>
            </a:r>
            <a:r>
              <a:rPr dirty="0" err="1"/>
              <a:t>ça</a:t>
            </a:r>
            <a:r>
              <a:rPr dirty="0"/>
              <a:t> </a:t>
            </a:r>
            <a:r>
              <a:rPr dirty="0" err="1"/>
              <a:t>casse</a:t>
            </a:r>
            <a:r>
              <a:rPr dirty="0"/>
              <a:t> → passe aux maquettes des </a:t>
            </a:r>
            <a:r>
              <a:rPr dirty="0" err="1"/>
              <a:t>diapos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~30 s (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direct)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l'outil</a:t>
            </a:r>
            <a:r>
              <a:rPr dirty="0"/>
              <a:t> est </a:t>
            </a:r>
            <a:r>
              <a:rPr dirty="0" err="1"/>
              <a:t>accueillant</a:t>
            </a:r>
            <a:r>
              <a:rPr dirty="0"/>
              <a:t> et </a:t>
            </a:r>
            <a:r>
              <a:rPr dirty="0" err="1"/>
              <a:t>clair</a:t>
            </a:r>
            <a:r>
              <a:rPr dirty="0"/>
              <a:t> </a:t>
            </a:r>
            <a:r>
              <a:rPr dirty="0" err="1"/>
              <a:t>dès</a:t>
            </a:r>
            <a:r>
              <a:rPr dirty="0"/>
              <a:t> </a:t>
            </a:r>
            <a:r>
              <a:rPr dirty="0" err="1"/>
              <a:t>l'ouverture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« </a:t>
            </a:r>
            <a:r>
              <a:rPr dirty="0" err="1"/>
              <a:t>Voici</a:t>
            </a:r>
            <a:r>
              <a:rPr dirty="0"/>
              <a:t> le menu : 6 options, tout </a:t>
            </a:r>
            <a:r>
              <a:rPr dirty="0" err="1"/>
              <a:t>en</a:t>
            </a:r>
            <a:r>
              <a:rPr dirty="0"/>
              <a:t> français. »</a:t>
            </a:r>
          </a:p>
          <a:p>
            <a:r>
              <a:rPr dirty="0"/>
              <a:t>« On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choisir</a:t>
            </a:r>
            <a:r>
              <a:rPr dirty="0"/>
              <a:t> </a:t>
            </a:r>
            <a:r>
              <a:rPr dirty="0" err="1"/>
              <a:t>l'option</a:t>
            </a:r>
            <a:r>
              <a:rPr dirty="0"/>
              <a:t> 2, le </a:t>
            </a:r>
            <a:r>
              <a:rPr dirty="0" err="1"/>
              <a:t>Didacticiel</a:t>
            </a:r>
            <a:r>
              <a:rPr dirty="0"/>
              <a:t> : le mode qui </a:t>
            </a:r>
            <a:r>
              <a:rPr dirty="0" err="1"/>
              <a:t>explique</a:t>
            </a:r>
            <a:r>
              <a:rPr dirty="0"/>
              <a:t> tout.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~2 min (le moment fort de la </a:t>
            </a:r>
            <a:r>
              <a:rPr dirty="0" err="1"/>
              <a:t>démo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Prouver</a:t>
            </a:r>
            <a:r>
              <a:rPr dirty="0"/>
              <a:t> la </a:t>
            </a:r>
            <a:r>
              <a:rPr dirty="0" err="1"/>
              <a:t>promesse</a:t>
            </a:r>
            <a:r>
              <a:rPr dirty="0"/>
              <a:t> « </a:t>
            </a:r>
            <a:r>
              <a:rPr dirty="0" err="1"/>
              <a:t>apprendre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jouant</a:t>
            </a:r>
            <a:r>
              <a:rPr dirty="0"/>
              <a:t> ».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Pointer trois choses : (1) le jeu RACONTE </a:t>
            </a:r>
            <a:r>
              <a:rPr dirty="0" err="1"/>
              <a:t>ce</a:t>
            </a:r>
            <a:r>
              <a:rPr dirty="0"/>
              <a:t> qui se passe (« le croupier </a:t>
            </a:r>
            <a:r>
              <a:rPr dirty="0" err="1"/>
              <a:t>distribue</a:t>
            </a:r>
            <a:r>
              <a:rPr dirty="0"/>
              <a:t>… »), (2) les </a:t>
            </a:r>
            <a:r>
              <a:rPr dirty="0" err="1"/>
              <a:t>cartes</a:t>
            </a:r>
            <a:r>
              <a:rPr dirty="0"/>
              <a:t> </a:t>
            </a:r>
            <a:r>
              <a:rPr dirty="0" err="1"/>
              <a:t>s'affichent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, (3) le CONSEIL </a:t>
            </a:r>
            <a:r>
              <a:rPr dirty="0" err="1"/>
              <a:t>apparaît</a:t>
            </a:r>
            <a:r>
              <a:rPr dirty="0"/>
              <a:t> à </a:t>
            </a:r>
            <a:r>
              <a:rPr dirty="0" err="1"/>
              <a:t>chaque</a:t>
            </a:r>
            <a:r>
              <a:rPr dirty="0"/>
              <a:t> tour.</a:t>
            </a:r>
          </a:p>
          <a:p>
            <a:r>
              <a:rPr dirty="0"/>
              <a:t>Lire </a:t>
            </a:r>
            <a:r>
              <a:rPr dirty="0" err="1"/>
              <a:t>l'exemple</a:t>
            </a:r>
            <a:r>
              <a:rPr dirty="0"/>
              <a:t> : « </a:t>
            </a:r>
            <a:r>
              <a:rPr dirty="0" err="1"/>
              <a:t>Ici</a:t>
            </a:r>
            <a:r>
              <a:rPr dirty="0"/>
              <a:t> </a:t>
            </a:r>
            <a:r>
              <a:rPr dirty="0" err="1"/>
              <a:t>j'ai</a:t>
            </a:r>
            <a:r>
              <a:rPr dirty="0"/>
              <a:t> 17, le croupier montre un 9, le jeu me </a:t>
            </a:r>
            <a:r>
              <a:rPr dirty="0" err="1"/>
              <a:t>conseille</a:t>
            </a:r>
            <a:r>
              <a:rPr dirty="0"/>
              <a:t> de Doubler — et </a:t>
            </a:r>
            <a:r>
              <a:rPr dirty="0" err="1"/>
              <a:t>m'explique</a:t>
            </a:r>
            <a:r>
              <a:rPr dirty="0"/>
              <a:t> </a:t>
            </a:r>
            <a:r>
              <a:rPr dirty="0" err="1"/>
              <a:t>pourquoi</a:t>
            </a:r>
            <a:r>
              <a:rPr dirty="0"/>
              <a:t>. »</a:t>
            </a:r>
          </a:p>
          <a:p>
            <a:r>
              <a:rPr dirty="0" err="1"/>
              <a:t>Jouer</a:t>
            </a:r>
            <a:r>
              <a:rPr dirty="0"/>
              <a:t> le coup </a:t>
            </a:r>
            <a:r>
              <a:rPr dirty="0" err="1"/>
              <a:t>conseillé</a:t>
            </a:r>
            <a:r>
              <a:rPr dirty="0"/>
              <a:t>, </a:t>
            </a:r>
            <a:r>
              <a:rPr dirty="0" err="1"/>
              <a:t>laisser</a:t>
            </a:r>
            <a:r>
              <a:rPr dirty="0"/>
              <a:t> le croupier </a:t>
            </a:r>
            <a:r>
              <a:rPr dirty="0" err="1"/>
              <a:t>finir</a:t>
            </a:r>
            <a:r>
              <a:rPr dirty="0"/>
              <a:t>, </a:t>
            </a:r>
            <a:r>
              <a:rPr dirty="0" err="1"/>
              <a:t>montrer</a:t>
            </a:r>
            <a:r>
              <a:rPr dirty="0"/>
              <a:t> le </a:t>
            </a:r>
            <a:r>
              <a:rPr dirty="0" err="1"/>
              <a:t>résultat</a:t>
            </a:r>
            <a:r>
              <a:rPr dirty="0"/>
              <a:t> (</a:t>
            </a:r>
            <a:r>
              <a:rPr dirty="0" err="1"/>
              <a:t>gagné</a:t>
            </a:r>
            <a:r>
              <a:rPr dirty="0"/>
              <a:t>/perdu, </a:t>
            </a:r>
            <a:r>
              <a:rPr dirty="0" err="1"/>
              <a:t>série</a:t>
            </a:r>
            <a:r>
              <a:rPr dirty="0"/>
              <a:t> de </a:t>
            </a:r>
            <a:r>
              <a:rPr dirty="0" err="1"/>
              <a:t>victoires</a:t>
            </a:r>
            <a:r>
              <a:rPr dirty="0"/>
              <a:t>).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LA </a:t>
            </a:r>
            <a:r>
              <a:rPr dirty="0" err="1"/>
              <a:t>diapo</a:t>
            </a:r>
            <a:r>
              <a:rPr dirty="0"/>
              <a:t> à </a:t>
            </a:r>
            <a:r>
              <a:rPr dirty="0" err="1"/>
              <a:t>soigner</a:t>
            </a:r>
            <a:r>
              <a:rPr dirty="0"/>
              <a:t> : </a:t>
            </a:r>
            <a:r>
              <a:rPr dirty="0" err="1"/>
              <a:t>ralentis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</a:t>
            </a:r>
            <a:r>
              <a:rPr dirty="0" err="1"/>
              <a:t>impressionne</a:t>
            </a:r>
            <a:r>
              <a:rPr dirty="0"/>
              <a:t> le jury.</a:t>
            </a:r>
          </a:p>
          <a:p>
            <a:endParaRPr dirty="0"/>
          </a:p>
          <a:p>
            <a:r>
              <a:rPr dirty="0"/>
              <a:t>Si le jury </a:t>
            </a:r>
            <a:r>
              <a:rPr dirty="0" err="1"/>
              <a:t>demande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« Le conseil </a:t>
            </a:r>
            <a:r>
              <a:rPr dirty="0" err="1"/>
              <a:t>vient</a:t>
            </a:r>
            <a:r>
              <a:rPr dirty="0"/>
              <a:t> </a:t>
            </a:r>
            <a:r>
              <a:rPr dirty="0" err="1"/>
              <a:t>d'où</a:t>
            </a:r>
            <a:r>
              <a:rPr dirty="0"/>
              <a:t> ? »  →  De tables de </a:t>
            </a:r>
            <a:r>
              <a:rPr dirty="0" err="1"/>
              <a:t>stratégie</a:t>
            </a:r>
            <a:r>
              <a:rPr dirty="0"/>
              <a:t> </a:t>
            </a:r>
            <a:r>
              <a:rPr dirty="0" err="1"/>
              <a:t>reconnues</a:t>
            </a:r>
            <a:r>
              <a:rPr dirty="0"/>
              <a:t> (Thorp, Wong…), </a:t>
            </a:r>
            <a:r>
              <a:rPr dirty="0" err="1"/>
              <a:t>recopiées</a:t>
            </a:r>
            <a:r>
              <a:rPr dirty="0"/>
              <a:t> dans le code et </a:t>
            </a:r>
            <a:r>
              <a:rPr dirty="0" err="1"/>
              <a:t>vérifiées</a:t>
            </a:r>
            <a:r>
              <a:rPr dirty="0"/>
              <a:t> par des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 30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Donner un RÉSULTAT OBSERVABLE et </a:t>
            </a:r>
            <a:r>
              <a:rPr dirty="0" err="1"/>
              <a:t>chiffré</a:t>
            </a:r>
            <a:r>
              <a:rPr dirty="0"/>
              <a:t> (très </a:t>
            </a:r>
            <a:r>
              <a:rPr dirty="0" err="1"/>
              <a:t>valorisé</a:t>
            </a:r>
            <a:r>
              <a:rPr dirty="0"/>
              <a:t> par la grille).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Lancer la simulation </a:t>
            </a:r>
            <a:r>
              <a:rPr dirty="0" err="1"/>
              <a:t>en</a:t>
            </a:r>
            <a:r>
              <a:rPr dirty="0"/>
              <a:t> direct (menu 4). Pendant le </a:t>
            </a:r>
            <a:r>
              <a:rPr dirty="0" err="1"/>
              <a:t>calcul</a:t>
            </a:r>
            <a:r>
              <a:rPr dirty="0"/>
              <a:t> : « Un robot </a:t>
            </a:r>
            <a:r>
              <a:rPr dirty="0" err="1"/>
              <a:t>joue</a:t>
            </a:r>
            <a:r>
              <a:rPr dirty="0"/>
              <a:t> des </a:t>
            </a:r>
            <a:r>
              <a:rPr dirty="0" err="1"/>
              <a:t>milliers</a:t>
            </a:r>
            <a:r>
              <a:rPr dirty="0"/>
              <a:t> de mains pour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stratégie</a:t>
            </a:r>
            <a:r>
              <a:rPr dirty="0"/>
              <a:t>, on </a:t>
            </a:r>
            <a:r>
              <a:rPr dirty="0" err="1"/>
              <a:t>mesure</a:t>
            </a:r>
            <a:r>
              <a:rPr dirty="0"/>
              <a:t> le gain moyen. »</a:t>
            </a:r>
          </a:p>
          <a:p>
            <a:r>
              <a:rPr dirty="0"/>
              <a:t>À </a:t>
            </a:r>
            <a:r>
              <a:rPr dirty="0" err="1"/>
              <a:t>l'arrivée</a:t>
            </a:r>
            <a:r>
              <a:rPr dirty="0"/>
              <a:t> du tableau, </a:t>
            </a:r>
            <a:r>
              <a:rPr dirty="0" err="1"/>
              <a:t>expliquer</a:t>
            </a:r>
            <a:r>
              <a:rPr dirty="0"/>
              <a:t> </a:t>
            </a:r>
            <a:r>
              <a:rPr dirty="0" err="1"/>
              <a:t>simplement</a:t>
            </a:r>
            <a:r>
              <a:rPr dirty="0"/>
              <a:t> : « Sans </a:t>
            </a:r>
            <a:r>
              <a:rPr dirty="0" err="1"/>
              <a:t>comptage</a:t>
            </a:r>
            <a:r>
              <a:rPr dirty="0"/>
              <a:t>, on </a:t>
            </a:r>
            <a:r>
              <a:rPr dirty="0" err="1"/>
              <a:t>perd</a:t>
            </a:r>
            <a:r>
              <a:rPr dirty="0"/>
              <a:t> un peu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moyenne</a:t>
            </a:r>
            <a:r>
              <a:rPr dirty="0"/>
              <a:t>. Avec </a:t>
            </a:r>
            <a:r>
              <a:rPr dirty="0" err="1"/>
              <a:t>comptage</a:t>
            </a:r>
            <a:r>
              <a:rPr dirty="0"/>
              <a:t>, on mise plus au bon moment, et </a:t>
            </a:r>
            <a:r>
              <a:rPr dirty="0" err="1"/>
              <a:t>ça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repasser</a:t>
            </a:r>
            <a:r>
              <a:rPr dirty="0"/>
              <a:t> </a:t>
            </a:r>
            <a:r>
              <a:rPr dirty="0" err="1"/>
              <a:t>positif</a:t>
            </a:r>
            <a:r>
              <a:rPr dirty="0"/>
              <a:t>. »</a:t>
            </a:r>
          </a:p>
          <a:p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honnête</a:t>
            </a:r>
            <a:r>
              <a:rPr dirty="0"/>
              <a:t> : « Les chiffres de la </a:t>
            </a:r>
            <a:r>
              <a:rPr dirty="0" err="1"/>
              <a:t>diapo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un </a:t>
            </a:r>
            <a:r>
              <a:rPr dirty="0" err="1"/>
              <a:t>exemple</a:t>
            </a:r>
            <a:r>
              <a:rPr dirty="0"/>
              <a:t> ; les </a:t>
            </a:r>
            <a:r>
              <a:rPr dirty="0" err="1"/>
              <a:t>vrais</a:t>
            </a:r>
            <a:r>
              <a:rPr dirty="0"/>
              <a:t> </a:t>
            </a:r>
            <a:r>
              <a:rPr dirty="0" err="1"/>
              <a:t>viennent</a:t>
            </a:r>
            <a:r>
              <a:rPr dirty="0"/>
              <a:t> de la simulation </a:t>
            </a:r>
            <a:r>
              <a:rPr dirty="0" err="1"/>
              <a:t>que</a:t>
            </a:r>
            <a:r>
              <a:rPr dirty="0"/>
              <a:t> je lance </a:t>
            </a:r>
            <a:r>
              <a:rPr dirty="0" err="1"/>
              <a:t>là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direct. »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« Gain/main » </a:t>
            </a:r>
            <a:r>
              <a:rPr dirty="0" err="1"/>
              <a:t>négatif</a:t>
            </a:r>
            <a:r>
              <a:rPr dirty="0"/>
              <a:t> = on </a:t>
            </a:r>
            <a:r>
              <a:rPr dirty="0" err="1"/>
              <a:t>perd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moyenne</a:t>
            </a:r>
            <a:r>
              <a:rPr dirty="0"/>
              <a:t> ; </a:t>
            </a:r>
            <a:r>
              <a:rPr dirty="0" err="1"/>
              <a:t>positif</a:t>
            </a:r>
            <a:r>
              <a:rPr dirty="0"/>
              <a:t> = on </a:t>
            </a:r>
            <a:r>
              <a:rPr dirty="0" err="1"/>
              <a:t>gagne</a:t>
            </a:r>
            <a:r>
              <a:rPr dirty="0"/>
              <a:t>. Dis-le avec </a:t>
            </a:r>
            <a:r>
              <a:rPr dirty="0" err="1"/>
              <a:t>ces</a:t>
            </a:r>
            <a:r>
              <a:rPr dirty="0"/>
              <a:t> mots simples.</a:t>
            </a:r>
          </a:p>
          <a:p>
            <a:endParaRPr dirty="0"/>
          </a:p>
          <a:p>
            <a:r>
              <a:rPr dirty="0"/>
              <a:t>Si le jury </a:t>
            </a:r>
            <a:r>
              <a:rPr dirty="0" err="1"/>
              <a:t>demande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« </a:t>
            </a:r>
            <a:r>
              <a:rPr dirty="0" err="1"/>
              <a:t>Pourquoi</a:t>
            </a:r>
            <a:r>
              <a:rPr dirty="0"/>
              <a:t> des chiffres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proches</a:t>
            </a:r>
            <a:r>
              <a:rPr dirty="0"/>
              <a:t> de </a:t>
            </a:r>
            <a:r>
              <a:rPr dirty="0" err="1"/>
              <a:t>zéro</a:t>
            </a:r>
            <a:r>
              <a:rPr dirty="0"/>
              <a:t> ? »  →  Le blackjack est un jeu très </a:t>
            </a:r>
            <a:r>
              <a:rPr dirty="0" err="1"/>
              <a:t>serré</a:t>
            </a:r>
            <a:r>
              <a:rPr dirty="0"/>
              <a:t> : </a:t>
            </a:r>
            <a:r>
              <a:rPr dirty="0" err="1"/>
              <a:t>l'avantage</a:t>
            </a:r>
            <a:r>
              <a:rPr dirty="0"/>
              <a:t> se </a:t>
            </a:r>
            <a:r>
              <a:rPr dirty="0" err="1"/>
              <a:t>joue</a:t>
            </a:r>
            <a:r>
              <a:rPr dirty="0"/>
              <a:t> à </a:t>
            </a:r>
            <a:r>
              <a:rPr dirty="0" err="1"/>
              <a:t>moins</a:t>
            </a:r>
            <a:r>
              <a:rPr dirty="0"/>
              <a:t> de 1 % par main, </a:t>
            </a:r>
            <a:r>
              <a:rPr dirty="0" err="1"/>
              <a:t>d'où</a:t>
            </a:r>
            <a:r>
              <a:rPr dirty="0"/>
              <a:t> </a:t>
            </a:r>
            <a:r>
              <a:rPr dirty="0" err="1"/>
              <a:t>l'intérêt</a:t>
            </a:r>
            <a:r>
              <a:rPr dirty="0"/>
              <a:t> de </a:t>
            </a:r>
            <a:r>
              <a:rPr dirty="0" err="1"/>
              <a:t>jouer</a:t>
            </a:r>
            <a:r>
              <a:rPr dirty="0"/>
              <a:t> beaucoup de 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Balayer</a:t>
            </a:r>
            <a:r>
              <a:rPr dirty="0"/>
              <a:t> </a:t>
            </a:r>
            <a:r>
              <a:rPr dirty="0" err="1"/>
              <a:t>l'étendue</a:t>
            </a:r>
            <a:r>
              <a:rPr dirty="0"/>
              <a:t> du </a:t>
            </a:r>
            <a:r>
              <a:rPr dirty="0" err="1"/>
              <a:t>projet</a:t>
            </a:r>
            <a:r>
              <a:rPr dirty="0"/>
              <a:t> sans tout re-</a:t>
            </a:r>
            <a:r>
              <a:rPr dirty="0" err="1"/>
              <a:t>détailler</a:t>
            </a:r>
            <a:r>
              <a:rPr dirty="0"/>
              <a:t> (la </a:t>
            </a:r>
            <a:r>
              <a:rPr dirty="0" err="1"/>
              <a:t>démo</a:t>
            </a:r>
            <a:r>
              <a:rPr dirty="0"/>
              <a:t> a déjà </a:t>
            </a:r>
            <a:r>
              <a:rPr dirty="0" err="1"/>
              <a:t>parlé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Distinguer</a:t>
            </a:r>
            <a:r>
              <a:rPr dirty="0"/>
              <a:t> encore </a:t>
            </a:r>
            <a:r>
              <a:rPr dirty="0" err="1"/>
              <a:t>l'essentiel</a:t>
            </a:r>
            <a:r>
              <a:rPr dirty="0"/>
              <a:t> (jeu + conseil) des bonus (</a:t>
            </a:r>
            <a:r>
              <a:rPr dirty="0" err="1"/>
              <a:t>sauvegarde</a:t>
            </a:r>
            <a:r>
              <a:rPr dirty="0"/>
              <a:t>, musique).</a:t>
            </a:r>
          </a:p>
          <a:p>
            <a:r>
              <a:rPr dirty="0" err="1"/>
              <a:t>Mentionner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règles</a:t>
            </a:r>
            <a:r>
              <a:rPr dirty="0"/>
              <a:t> se </a:t>
            </a:r>
            <a:r>
              <a:rPr dirty="0" err="1"/>
              <a:t>changent</a:t>
            </a:r>
            <a:r>
              <a:rPr dirty="0"/>
              <a:t> dans un simple </a:t>
            </a:r>
            <a:r>
              <a:rPr dirty="0" err="1"/>
              <a:t>fichier</a:t>
            </a:r>
            <a:r>
              <a:rPr dirty="0"/>
              <a:t> de configuration, sans toucher au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 30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code est </a:t>
            </a:r>
            <a:r>
              <a:rPr dirty="0" err="1"/>
              <a:t>organisé</a:t>
            </a:r>
            <a:r>
              <a:rPr dirty="0"/>
              <a:t>, pas un seul gros </a:t>
            </a:r>
            <a:r>
              <a:rPr dirty="0" err="1"/>
              <a:t>fichier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Lire de bas </a:t>
            </a:r>
            <a:r>
              <a:rPr dirty="0" err="1"/>
              <a:t>en</a:t>
            </a:r>
            <a:r>
              <a:rPr dirty="0"/>
              <a:t> haut : « Les </a:t>
            </a:r>
            <a:r>
              <a:rPr dirty="0" err="1"/>
              <a:t>briques</a:t>
            </a:r>
            <a:r>
              <a:rPr dirty="0"/>
              <a:t> de base (les </a:t>
            </a:r>
            <a:r>
              <a:rPr dirty="0" err="1"/>
              <a:t>cartes</a:t>
            </a:r>
            <a:r>
              <a:rPr dirty="0"/>
              <a:t>) ne </a:t>
            </a:r>
            <a:r>
              <a:rPr dirty="0" err="1"/>
              <a:t>connaissent</a:t>
            </a:r>
            <a:r>
              <a:rPr dirty="0"/>
              <a:t> rien du </a:t>
            </a:r>
            <a:r>
              <a:rPr dirty="0" err="1"/>
              <a:t>reste</a:t>
            </a:r>
            <a:r>
              <a:rPr dirty="0"/>
              <a:t> ; </a:t>
            </a:r>
            <a:r>
              <a:rPr dirty="0" err="1"/>
              <a:t>chaque</a:t>
            </a:r>
            <a:r>
              <a:rPr dirty="0"/>
              <a:t> étage </a:t>
            </a:r>
            <a:r>
              <a:rPr dirty="0" err="1"/>
              <a:t>s'appuie</a:t>
            </a:r>
            <a:r>
              <a:rPr dirty="0"/>
              <a:t> </a:t>
            </a:r>
            <a:r>
              <a:rPr dirty="0" err="1"/>
              <a:t>seulement</a:t>
            </a:r>
            <a:r>
              <a:rPr dirty="0"/>
              <a:t> sur </a:t>
            </a:r>
            <a:r>
              <a:rPr dirty="0" err="1"/>
              <a:t>ceux</a:t>
            </a:r>
            <a:r>
              <a:rPr dirty="0"/>
              <a:t> du dessous. »</a:t>
            </a:r>
          </a:p>
          <a:p>
            <a:r>
              <a:rPr dirty="0"/>
              <a:t>Donner </a:t>
            </a:r>
            <a:r>
              <a:rPr dirty="0" err="1"/>
              <a:t>l'intérêt</a:t>
            </a:r>
            <a:r>
              <a:rPr dirty="0"/>
              <a:t> </a:t>
            </a:r>
            <a:r>
              <a:rPr dirty="0" err="1"/>
              <a:t>concret</a:t>
            </a:r>
            <a:r>
              <a:rPr dirty="0"/>
              <a:t> : « Je </a:t>
            </a:r>
            <a:r>
              <a:rPr dirty="0" err="1"/>
              <a:t>pourrais</a:t>
            </a:r>
            <a:r>
              <a:rPr dirty="0"/>
              <a:t> </a:t>
            </a:r>
            <a:r>
              <a:rPr dirty="0" err="1"/>
              <a:t>remplacer</a:t>
            </a:r>
            <a:r>
              <a:rPr dirty="0"/>
              <a:t> </a:t>
            </a:r>
            <a:r>
              <a:rPr dirty="0" err="1"/>
              <a:t>l'écran</a:t>
            </a:r>
            <a:r>
              <a:rPr dirty="0"/>
              <a:t> </a:t>
            </a:r>
            <a:r>
              <a:rPr dirty="0" err="1"/>
              <a:t>texte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interface </a:t>
            </a:r>
            <a:r>
              <a:rPr dirty="0" err="1"/>
              <a:t>graphique</a:t>
            </a:r>
            <a:r>
              <a:rPr dirty="0"/>
              <a:t> sans toucher au </a:t>
            </a:r>
            <a:r>
              <a:rPr dirty="0" err="1"/>
              <a:t>moteur</a:t>
            </a:r>
            <a:r>
              <a:rPr dirty="0"/>
              <a:t> du jeu. »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</a:t>
            </a:r>
            <a:r>
              <a:rPr dirty="0" err="1"/>
              <a:t>Analogie</a:t>
            </a:r>
            <a:r>
              <a:rPr dirty="0"/>
              <a:t> : «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maison — les </a:t>
            </a:r>
            <a:r>
              <a:rPr dirty="0" err="1"/>
              <a:t>fondations</a:t>
            </a:r>
            <a:r>
              <a:rPr dirty="0"/>
              <a:t> ne </a:t>
            </a:r>
            <a:r>
              <a:rPr dirty="0" err="1"/>
              <a:t>dépendent</a:t>
            </a:r>
            <a:r>
              <a:rPr dirty="0"/>
              <a:t> pas de la </a:t>
            </a:r>
            <a:r>
              <a:rPr dirty="0" err="1"/>
              <a:t>décoration</a:t>
            </a:r>
            <a:r>
              <a:rPr dirty="0"/>
              <a:t>, </a:t>
            </a:r>
            <a:r>
              <a:rPr dirty="0" err="1"/>
              <a:t>l'inverse</a:t>
            </a:r>
            <a:r>
              <a:rPr dirty="0"/>
              <a:t> </a:t>
            </a:r>
            <a:r>
              <a:rPr dirty="0" err="1"/>
              <a:t>oui</a:t>
            </a:r>
            <a:r>
              <a:rPr dirty="0"/>
              <a:t>. »</a:t>
            </a:r>
          </a:p>
          <a:p>
            <a:endParaRPr dirty="0"/>
          </a:p>
          <a:p>
            <a:r>
              <a:rPr dirty="0"/>
              <a:t>Si le jury </a:t>
            </a:r>
            <a:r>
              <a:rPr dirty="0" err="1"/>
              <a:t>demande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« </a:t>
            </a:r>
            <a:r>
              <a:rPr dirty="0" err="1"/>
              <a:t>Pourquoi</a:t>
            </a:r>
            <a:r>
              <a:rPr dirty="0"/>
              <a:t> </a:t>
            </a:r>
            <a:r>
              <a:rPr dirty="0" err="1"/>
              <a:t>séparer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autant</a:t>
            </a:r>
            <a:r>
              <a:rPr dirty="0"/>
              <a:t> de dossiers ? »  →  </a:t>
            </a:r>
            <a:r>
              <a:rPr dirty="0" err="1"/>
              <a:t>Chaque</a:t>
            </a:r>
            <a:r>
              <a:rPr dirty="0"/>
              <a:t> dossier a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responsabilité</a:t>
            </a:r>
            <a:r>
              <a:rPr dirty="0"/>
              <a:t> unique : </a:t>
            </a:r>
            <a:r>
              <a:rPr dirty="0" err="1"/>
              <a:t>c'est</a:t>
            </a:r>
            <a:r>
              <a:rPr dirty="0"/>
              <a:t> plus facile à lire, à tester et à faire </a:t>
            </a:r>
            <a:r>
              <a:rPr dirty="0" err="1"/>
              <a:t>évoluer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 30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LE bloc </a:t>
            </a:r>
            <a:r>
              <a:rPr dirty="0" err="1"/>
              <a:t>attendu</a:t>
            </a:r>
            <a:r>
              <a:rPr dirty="0"/>
              <a:t> par un jury de POO. À </a:t>
            </a:r>
            <a:r>
              <a:rPr dirty="0" err="1"/>
              <a:t>maîtriser</a:t>
            </a:r>
            <a:r>
              <a:rPr dirty="0"/>
              <a:t> pour les questions.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Prendre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principe</a:t>
            </a:r>
            <a:r>
              <a:rPr dirty="0"/>
              <a:t> et donner </a:t>
            </a:r>
            <a:r>
              <a:rPr dirty="0" err="1"/>
              <a:t>l'exemple</a:t>
            </a:r>
            <a:r>
              <a:rPr dirty="0"/>
              <a:t> «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clair</a:t>
            </a:r>
            <a:r>
              <a:rPr dirty="0"/>
              <a:t> » de la </a:t>
            </a:r>
            <a:r>
              <a:rPr dirty="0" err="1"/>
              <a:t>diapo</a:t>
            </a:r>
            <a:r>
              <a:rPr dirty="0"/>
              <a:t>.</a:t>
            </a:r>
          </a:p>
          <a:p>
            <a:r>
              <a:rPr dirty="0"/>
              <a:t>Pour le </a:t>
            </a:r>
            <a:r>
              <a:rPr dirty="0" err="1"/>
              <a:t>polymorphisme</a:t>
            </a:r>
            <a:r>
              <a:rPr dirty="0"/>
              <a:t>, insister : «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ça</a:t>
            </a:r>
            <a:r>
              <a:rPr dirty="0"/>
              <a:t> qui rend les 9 </a:t>
            </a:r>
            <a:r>
              <a:rPr dirty="0" err="1"/>
              <a:t>stratégies</a:t>
            </a:r>
            <a:r>
              <a:rPr dirty="0"/>
              <a:t> </a:t>
            </a:r>
            <a:r>
              <a:rPr dirty="0" err="1"/>
              <a:t>interchangeables</a:t>
            </a:r>
            <a:r>
              <a:rPr dirty="0"/>
              <a:t> sans modifier le jeu. »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Si </a:t>
            </a:r>
            <a:r>
              <a:rPr dirty="0" err="1"/>
              <a:t>tu</a:t>
            </a:r>
            <a:r>
              <a:rPr dirty="0"/>
              <a:t> ne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retenir</a:t>
            </a:r>
            <a:r>
              <a:rPr dirty="0"/>
              <a:t> </a:t>
            </a:r>
            <a:r>
              <a:rPr dirty="0" err="1"/>
              <a:t>qu'un</a:t>
            </a:r>
            <a:r>
              <a:rPr dirty="0"/>
              <a:t> </a:t>
            </a:r>
            <a:r>
              <a:rPr dirty="0" err="1"/>
              <a:t>exemple</a:t>
            </a:r>
            <a:r>
              <a:rPr dirty="0"/>
              <a:t> : le </a:t>
            </a:r>
            <a:r>
              <a:rPr dirty="0" err="1"/>
              <a:t>polymorphisme</a:t>
            </a:r>
            <a:r>
              <a:rPr dirty="0"/>
              <a:t> avec les </a:t>
            </a:r>
            <a:r>
              <a:rPr dirty="0" err="1"/>
              <a:t>stratégies</a:t>
            </a:r>
            <a:r>
              <a:rPr dirty="0"/>
              <a:t>. </a:t>
            </a:r>
            <a:r>
              <a:rPr dirty="0" err="1"/>
              <a:t>C'est</a:t>
            </a:r>
            <a:r>
              <a:rPr dirty="0"/>
              <a:t> le plus </a:t>
            </a:r>
            <a:r>
              <a:rPr dirty="0" err="1"/>
              <a:t>parlant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Si le jury </a:t>
            </a:r>
            <a:r>
              <a:rPr dirty="0" err="1"/>
              <a:t>demande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« Donne un </a:t>
            </a:r>
            <a:r>
              <a:rPr dirty="0" err="1"/>
              <a:t>exemple</a:t>
            </a:r>
            <a:r>
              <a:rPr dirty="0"/>
              <a:t> </a:t>
            </a:r>
            <a:r>
              <a:rPr dirty="0" err="1"/>
              <a:t>d'héritage</a:t>
            </a:r>
            <a:r>
              <a:rPr dirty="0"/>
              <a:t> dans ton code. »  →  </a:t>
            </a:r>
            <a:r>
              <a:rPr dirty="0" err="1"/>
              <a:t>BasePlayer</a:t>
            </a:r>
            <a:r>
              <a:rPr dirty="0"/>
              <a:t> → Dealer et </a:t>
            </a:r>
            <a:r>
              <a:rPr dirty="0" err="1"/>
              <a:t>HumanPlayer</a:t>
            </a:r>
            <a:r>
              <a:rPr dirty="0"/>
              <a:t> ; </a:t>
            </a:r>
            <a:r>
              <a:rPr dirty="0" err="1"/>
              <a:t>ou</a:t>
            </a:r>
            <a:r>
              <a:rPr dirty="0"/>
              <a:t> Strategy → </a:t>
            </a:r>
            <a:r>
              <a:rPr dirty="0" err="1"/>
              <a:t>BasicStrategy</a:t>
            </a:r>
            <a:r>
              <a:rPr dirty="0"/>
              <a:t>, </a:t>
            </a:r>
            <a:r>
              <a:rPr dirty="0" err="1"/>
              <a:t>HiLoStrategy</a:t>
            </a:r>
            <a:r>
              <a:rPr dirty="0"/>
              <a:t>…</a:t>
            </a:r>
          </a:p>
          <a:p>
            <a:r>
              <a:rPr dirty="0"/>
              <a:t>« À quoi </a:t>
            </a:r>
            <a:r>
              <a:rPr dirty="0" err="1"/>
              <a:t>sert</a:t>
            </a:r>
            <a:r>
              <a:rPr dirty="0"/>
              <a:t> </a:t>
            </a:r>
            <a:r>
              <a:rPr dirty="0" err="1"/>
              <a:t>l'encapsulation</a:t>
            </a:r>
            <a:r>
              <a:rPr dirty="0"/>
              <a:t> </a:t>
            </a:r>
            <a:r>
              <a:rPr dirty="0" err="1"/>
              <a:t>ici</a:t>
            </a:r>
            <a:r>
              <a:rPr dirty="0"/>
              <a:t> ? »  →  </a:t>
            </a:r>
            <a:r>
              <a:rPr dirty="0" err="1"/>
              <a:t>Empêcher</a:t>
            </a:r>
            <a:r>
              <a:rPr dirty="0"/>
              <a:t> de modifier le </a:t>
            </a:r>
            <a:r>
              <a:rPr dirty="0" err="1"/>
              <a:t>solde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carte par </a:t>
            </a:r>
            <a:r>
              <a:rPr dirty="0" err="1"/>
              <a:t>erreur</a:t>
            </a:r>
            <a:r>
              <a:rPr dirty="0"/>
              <a:t> ; on passe par des </a:t>
            </a:r>
            <a:r>
              <a:rPr dirty="0" err="1"/>
              <a:t>méthodes</a:t>
            </a:r>
            <a:r>
              <a:rPr dirty="0"/>
              <a:t> qui </a:t>
            </a:r>
            <a:r>
              <a:rPr dirty="0" err="1"/>
              <a:t>valident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 30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chaque</a:t>
            </a:r>
            <a:r>
              <a:rPr dirty="0"/>
              <a:t> choix a </a:t>
            </a:r>
            <a:r>
              <a:rPr dirty="0" err="1"/>
              <a:t>une</a:t>
            </a:r>
            <a:r>
              <a:rPr dirty="0"/>
              <a:t> RAISON (</a:t>
            </a:r>
            <a:r>
              <a:rPr dirty="0" err="1"/>
              <a:t>critère</a:t>
            </a:r>
            <a:r>
              <a:rPr dirty="0"/>
              <a:t> « choix </a:t>
            </a:r>
            <a:r>
              <a:rPr dirty="0" err="1"/>
              <a:t>justifiés</a:t>
            </a:r>
            <a:r>
              <a:rPr dirty="0"/>
              <a:t> »).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Pour </a:t>
            </a:r>
            <a:r>
              <a:rPr dirty="0" err="1"/>
              <a:t>chaque</a:t>
            </a:r>
            <a:r>
              <a:rPr dirty="0"/>
              <a:t> point, dire le POURQUOI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phrase.</a:t>
            </a:r>
          </a:p>
          <a:p>
            <a:r>
              <a:rPr dirty="0"/>
              <a:t>Le plus </a:t>
            </a:r>
            <a:r>
              <a:rPr dirty="0" err="1"/>
              <a:t>intéressant</a:t>
            </a:r>
            <a:r>
              <a:rPr dirty="0"/>
              <a:t> : « Faire </a:t>
            </a:r>
            <a:r>
              <a:rPr dirty="0" err="1"/>
              <a:t>hériter</a:t>
            </a:r>
            <a:r>
              <a:rPr dirty="0"/>
              <a:t> un </a:t>
            </a:r>
            <a:r>
              <a:rPr dirty="0" err="1"/>
              <a:t>comptage</a:t>
            </a:r>
            <a:r>
              <a:rPr dirty="0"/>
              <a:t> de la </a:t>
            </a:r>
            <a:r>
              <a:rPr dirty="0" err="1"/>
              <a:t>stratégie</a:t>
            </a:r>
            <a:r>
              <a:rPr dirty="0"/>
              <a:t> de base </a:t>
            </a:r>
            <a:r>
              <a:rPr dirty="0" err="1"/>
              <a:t>aurait</a:t>
            </a:r>
            <a:r>
              <a:rPr dirty="0"/>
              <a:t> </a:t>
            </a:r>
            <a:r>
              <a:rPr dirty="0" err="1"/>
              <a:t>mélangé</a:t>
            </a:r>
            <a:r>
              <a:rPr dirty="0"/>
              <a:t> deux </a:t>
            </a:r>
            <a:r>
              <a:rPr dirty="0" err="1"/>
              <a:t>rôles</a:t>
            </a:r>
            <a:r>
              <a:rPr dirty="0"/>
              <a:t> — </a:t>
            </a:r>
            <a:r>
              <a:rPr dirty="0" err="1"/>
              <a:t>compter</a:t>
            </a:r>
            <a:r>
              <a:rPr dirty="0"/>
              <a:t>, et </a:t>
            </a:r>
            <a:r>
              <a:rPr dirty="0" err="1"/>
              <a:t>décider</a:t>
            </a:r>
            <a:r>
              <a:rPr dirty="0"/>
              <a:t>. La composition garde les </a:t>
            </a:r>
            <a:r>
              <a:rPr dirty="0" err="1"/>
              <a:t>rôles</a:t>
            </a:r>
            <a:r>
              <a:rPr dirty="0"/>
              <a:t> </a:t>
            </a:r>
            <a:r>
              <a:rPr dirty="0" err="1"/>
              <a:t>séparés</a:t>
            </a:r>
            <a:r>
              <a:rPr dirty="0"/>
              <a:t>. »</a:t>
            </a:r>
          </a:p>
          <a:p>
            <a:endParaRPr dirty="0"/>
          </a:p>
          <a:p>
            <a:r>
              <a:rPr dirty="0"/>
              <a:t>Si le jury </a:t>
            </a:r>
            <a:r>
              <a:rPr dirty="0" err="1"/>
              <a:t>demande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« Composition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héritage</a:t>
            </a:r>
            <a:r>
              <a:rPr dirty="0"/>
              <a:t> : comment </a:t>
            </a:r>
            <a:r>
              <a:rPr dirty="0" err="1"/>
              <a:t>choisir</a:t>
            </a:r>
            <a:r>
              <a:rPr dirty="0"/>
              <a:t> ? »  →  </a:t>
            </a:r>
            <a:r>
              <a:rPr dirty="0" err="1"/>
              <a:t>Héritage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« est un » (un Dealer EST un </a:t>
            </a:r>
            <a:r>
              <a:rPr dirty="0" err="1"/>
              <a:t>joueur</a:t>
            </a:r>
            <a:r>
              <a:rPr dirty="0"/>
              <a:t>) ; composition </a:t>
            </a:r>
            <a:r>
              <a:rPr dirty="0" err="1"/>
              <a:t>si</a:t>
            </a:r>
            <a:r>
              <a:rPr dirty="0"/>
              <a:t> « </a:t>
            </a:r>
            <a:r>
              <a:rPr dirty="0" err="1"/>
              <a:t>utilise</a:t>
            </a:r>
            <a:r>
              <a:rPr dirty="0"/>
              <a:t> un » (un </a:t>
            </a:r>
            <a:r>
              <a:rPr dirty="0" err="1"/>
              <a:t>comptage</a:t>
            </a:r>
            <a:r>
              <a:rPr dirty="0"/>
              <a:t> UTILISE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stratégie</a:t>
            </a:r>
            <a:r>
              <a:rPr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Montrer</a:t>
            </a:r>
            <a:r>
              <a:rPr dirty="0"/>
              <a:t> la </a:t>
            </a:r>
            <a:r>
              <a:rPr dirty="0" err="1"/>
              <a:t>profondeur</a:t>
            </a:r>
            <a:r>
              <a:rPr dirty="0"/>
              <a:t> du travail — </a:t>
            </a:r>
            <a:r>
              <a:rPr dirty="0" err="1"/>
              <a:t>souvent</a:t>
            </a:r>
            <a:r>
              <a:rPr dirty="0"/>
              <a:t> source de questions.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Expliquer</a:t>
            </a:r>
            <a:r>
              <a:rPr dirty="0"/>
              <a:t> le bug </a:t>
            </a:r>
            <a:r>
              <a:rPr dirty="0" err="1"/>
              <a:t>évité</a:t>
            </a:r>
            <a:r>
              <a:rPr dirty="0"/>
              <a:t> : « Si on </a:t>
            </a:r>
            <a:r>
              <a:rPr dirty="0" err="1"/>
              <a:t>comptait</a:t>
            </a:r>
            <a:r>
              <a:rPr dirty="0"/>
              <a:t> la carte </a:t>
            </a:r>
            <a:r>
              <a:rPr dirty="0" err="1"/>
              <a:t>cachée</a:t>
            </a:r>
            <a:r>
              <a:rPr dirty="0"/>
              <a:t> tout de suite, le </a:t>
            </a:r>
            <a:r>
              <a:rPr dirty="0" err="1"/>
              <a:t>joueur</a:t>
            </a:r>
            <a:r>
              <a:rPr dirty="0"/>
              <a:t> « </a:t>
            </a:r>
            <a:r>
              <a:rPr dirty="0" err="1"/>
              <a:t>tricherait</a:t>
            </a:r>
            <a:r>
              <a:rPr dirty="0"/>
              <a:t> » avec </a:t>
            </a:r>
            <a:r>
              <a:rPr dirty="0" err="1"/>
              <a:t>une</a:t>
            </a:r>
            <a:r>
              <a:rPr dirty="0"/>
              <a:t> info </a:t>
            </a:r>
            <a:r>
              <a:rPr dirty="0" err="1"/>
              <a:t>qu'il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pas. »</a:t>
            </a:r>
          </a:p>
          <a:p>
            <a:r>
              <a:rPr dirty="0" err="1"/>
              <a:t>Préciser</a:t>
            </a:r>
            <a:r>
              <a:rPr dirty="0"/>
              <a:t> : « </a:t>
            </a:r>
            <a:r>
              <a:rPr dirty="0" err="1"/>
              <a:t>C'est</a:t>
            </a:r>
            <a:r>
              <a:rPr dirty="0"/>
              <a:t> le seul </a:t>
            </a:r>
            <a:r>
              <a:rPr dirty="0" err="1"/>
              <a:t>endroit</a:t>
            </a:r>
            <a:r>
              <a:rPr dirty="0"/>
              <a:t> du code </a:t>
            </a:r>
            <a:r>
              <a:rPr dirty="0" err="1"/>
              <a:t>où</a:t>
            </a:r>
            <a:r>
              <a:rPr dirty="0"/>
              <a:t> je </a:t>
            </a:r>
            <a:r>
              <a:rPr dirty="0" err="1"/>
              <a:t>touche</a:t>
            </a:r>
            <a:r>
              <a:rPr dirty="0"/>
              <a:t> au </a:t>
            </a:r>
            <a:r>
              <a:rPr dirty="0" err="1"/>
              <a:t>compteur</a:t>
            </a:r>
            <a:r>
              <a:rPr dirty="0"/>
              <a:t> </a:t>
            </a:r>
            <a:r>
              <a:rPr dirty="0" err="1"/>
              <a:t>autrement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par la </a:t>
            </a:r>
            <a:r>
              <a:rPr dirty="0" err="1"/>
              <a:t>fonction</a:t>
            </a:r>
            <a:r>
              <a:rPr dirty="0"/>
              <a:t> </a:t>
            </a:r>
            <a:r>
              <a:rPr dirty="0" err="1"/>
              <a:t>normale</a:t>
            </a:r>
            <a:r>
              <a:rPr dirty="0"/>
              <a:t> — et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testé</a:t>
            </a:r>
            <a:r>
              <a:rPr dirty="0"/>
              <a:t>. »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Bonne </a:t>
            </a:r>
            <a:r>
              <a:rPr dirty="0" err="1"/>
              <a:t>diapo</a:t>
            </a:r>
            <a:r>
              <a:rPr dirty="0"/>
              <a:t> pour </a:t>
            </a:r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comprends</a:t>
            </a:r>
            <a:r>
              <a:rPr dirty="0"/>
              <a:t> VRAIMENT ton code, pas </a:t>
            </a:r>
            <a:r>
              <a:rPr dirty="0" err="1"/>
              <a:t>seulement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ça</a:t>
            </a:r>
            <a:r>
              <a:rPr dirty="0"/>
              <a:t> </a:t>
            </a:r>
            <a:r>
              <a:rPr dirty="0" err="1"/>
              <a:t>marche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 30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Prouver</a:t>
            </a:r>
            <a:r>
              <a:rPr dirty="0"/>
              <a:t> la </a:t>
            </a:r>
            <a:r>
              <a:rPr dirty="0" err="1"/>
              <a:t>fiabilité</a:t>
            </a:r>
            <a:r>
              <a:rPr dirty="0"/>
              <a:t> (</a:t>
            </a:r>
            <a:r>
              <a:rPr dirty="0" err="1"/>
              <a:t>critère</a:t>
            </a:r>
            <a:r>
              <a:rPr dirty="0"/>
              <a:t> « tests / validation »).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Si possible, lancer les tests </a:t>
            </a:r>
            <a:r>
              <a:rPr dirty="0" err="1"/>
              <a:t>en</a:t>
            </a:r>
            <a:r>
              <a:rPr dirty="0"/>
              <a:t> direct dans un 2e terminal : « tout vert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moins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seconde</a:t>
            </a:r>
            <a:r>
              <a:rPr dirty="0"/>
              <a:t> ».</a:t>
            </a:r>
          </a:p>
          <a:p>
            <a:r>
              <a:rPr dirty="0"/>
              <a:t>Donner un </a:t>
            </a:r>
            <a:r>
              <a:rPr dirty="0" err="1"/>
              <a:t>exemple</a:t>
            </a:r>
            <a:r>
              <a:rPr dirty="0"/>
              <a:t> de test </a:t>
            </a:r>
            <a:r>
              <a:rPr dirty="0" err="1"/>
              <a:t>malin</a:t>
            </a:r>
            <a:r>
              <a:rPr dirty="0"/>
              <a:t> : « Sur un jeu </a:t>
            </a:r>
            <a:r>
              <a:rPr dirty="0" err="1"/>
              <a:t>complet</a:t>
            </a:r>
            <a:r>
              <a:rPr dirty="0"/>
              <a:t>, </a:t>
            </a:r>
            <a:r>
              <a:rPr dirty="0" err="1"/>
              <a:t>mon</a:t>
            </a:r>
            <a:r>
              <a:rPr dirty="0"/>
              <a:t> </a:t>
            </a:r>
            <a:r>
              <a:rPr dirty="0" err="1"/>
              <a:t>comptage</a:t>
            </a:r>
            <a:r>
              <a:rPr dirty="0"/>
              <a:t> doit </a:t>
            </a:r>
            <a:r>
              <a:rPr dirty="0" err="1"/>
              <a:t>retomber</a:t>
            </a:r>
            <a:r>
              <a:rPr dirty="0"/>
              <a:t> </a:t>
            </a:r>
            <a:r>
              <a:rPr dirty="0" err="1"/>
              <a:t>exactement</a:t>
            </a:r>
            <a:r>
              <a:rPr dirty="0"/>
              <a:t> à </a:t>
            </a:r>
            <a:r>
              <a:rPr dirty="0" err="1"/>
              <a:t>zéro</a:t>
            </a:r>
            <a:r>
              <a:rPr dirty="0"/>
              <a:t> — </a:t>
            </a:r>
            <a:r>
              <a:rPr dirty="0" err="1"/>
              <a:t>sinon</a:t>
            </a:r>
            <a:r>
              <a:rPr dirty="0"/>
              <a:t> </a:t>
            </a:r>
            <a:r>
              <a:rPr dirty="0" err="1"/>
              <a:t>mes</a:t>
            </a:r>
            <a:r>
              <a:rPr dirty="0"/>
              <a:t> tables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fausses</a:t>
            </a:r>
            <a:r>
              <a:rPr dirty="0"/>
              <a:t>. »</a:t>
            </a:r>
          </a:p>
          <a:p>
            <a:r>
              <a:rPr dirty="0" err="1"/>
              <a:t>Mentionner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tests </a:t>
            </a:r>
            <a:r>
              <a:rPr dirty="0" err="1"/>
              <a:t>ont</a:t>
            </a:r>
            <a:r>
              <a:rPr dirty="0"/>
              <a:t> </a:t>
            </a:r>
            <a:r>
              <a:rPr dirty="0" err="1"/>
              <a:t>attrapé</a:t>
            </a:r>
            <a:r>
              <a:rPr dirty="0"/>
              <a:t> de </a:t>
            </a:r>
            <a:r>
              <a:rPr dirty="0" err="1"/>
              <a:t>vrais</a:t>
            </a:r>
            <a:r>
              <a:rPr dirty="0"/>
              <a:t> bugs (ex. </a:t>
            </a:r>
            <a:r>
              <a:rPr dirty="0" err="1"/>
              <a:t>une</a:t>
            </a:r>
            <a:r>
              <a:rPr dirty="0"/>
              <a:t> boucle sans fin sur la </a:t>
            </a:r>
            <a:r>
              <a:rPr dirty="0" err="1"/>
              <a:t>séparation</a:t>
            </a:r>
            <a:r>
              <a:rPr dirty="0"/>
              <a:t> de </a:t>
            </a:r>
            <a:r>
              <a:rPr dirty="0" err="1"/>
              <a:t>cartes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Si le jury </a:t>
            </a:r>
            <a:r>
              <a:rPr dirty="0" err="1"/>
              <a:t>demande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« </a:t>
            </a:r>
            <a:r>
              <a:rPr dirty="0" err="1"/>
              <a:t>Tes</a:t>
            </a:r>
            <a:r>
              <a:rPr dirty="0"/>
              <a:t> tests </a:t>
            </a:r>
            <a:r>
              <a:rPr dirty="0" err="1"/>
              <a:t>couvrent</a:t>
            </a:r>
            <a:r>
              <a:rPr dirty="0"/>
              <a:t> tout ? »  →  Pas 100 % des </a:t>
            </a:r>
            <a:r>
              <a:rPr dirty="0" err="1"/>
              <a:t>lignes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tous</a:t>
            </a:r>
            <a:r>
              <a:rPr dirty="0"/>
              <a:t> les </a:t>
            </a:r>
            <a:r>
              <a:rPr dirty="0" err="1"/>
              <a:t>cas</a:t>
            </a:r>
            <a:r>
              <a:rPr dirty="0"/>
              <a:t> critiques : </a:t>
            </a:r>
            <a:r>
              <a:rPr dirty="0" err="1"/>
              <a:t>règles</a:t>
            </a:r>
            <a:r>
              <a:rPr dirty="0"/>
              <a:t>, gains, </a:t>
            </a:r>
            <a:r>
              <a:rPr dirty="0" err="1"/>
              <a:t>comptages</a:t>
            </a:r>
            <a:r>
              <a:rPr dirty="0"/>
              <a:t>, </a:t>
            </a:r>
            <a:r>
              <a:rPr dirty="0" err="1"/>
              <a:t>sauvegarde</a:t>
            </a:r>
            <a:r>
              <a:rPr dirty="0"/>
              <a:t>, et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partie</a:t>
            </a:r>
            <a:r>
              <a:rPr dirty="0"/>
              <a:t> </a:t>
            </a:r>
            <a:r>
              <a:rPr dirty="0" err="1"/>
              <a:t>complète</a:t>
            </a:r>
            <a:r>
              <a:rPr dirty="0"/>
              <a:t> de bout </a:t>
            </a:r>
            <a:r>
              <a:rPr dirty="0" err="1"/>
              <a:t>en</a:t>
            </a:r>
            <a:r>
              <a:rPr dirty="0"/>
              <a:t> 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~45 s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lucide</a:t>
            </a:r>
            <a:r>
              <a:rPr dirty="0"/>
              <a:t> </a:t>
            </a:r>
            <a:r>
              <a:rPr dirty="0" err="1"/>
              <a:t>rapporte</a:t>
            </a:r>
            <a:r>
              <a:rPr dirty="0"/>
              <a:t> des points et </a:t>
            </a:r>
            <a:r>
              <a:rPr dirty="0" err="1"/>
              <a:t>désamorce</a:t>
            </a:r>
            <a:r>
              <a:rPr dirty="0"/>
              <a:t> les questions.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Présenter</a:t>
            </a:r>
            <a:r>
              <a:rPr dirty="0"/>
              <a:t>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limites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des CHOIX, pas des </a:t>
            </a:r>
            <a:r>
              <a:rPr dirty="0" err="1"/>
              <a:t>oublis</a:t>
            </a:r>
            <a:r>
              <a:rPr dirty="0"/>
              <a:t> : « </a:t>
            </a:r>
            <a:r>
              <a:rPr dirty="0" err="1"/>
              <a:t>J'ai</a:t>
            </a:r>
            <a:r>
              <a:rPr dirty="0"/>
              <a:t> </a:t>
            </a:r>
            <a:r>
              <a:rPr dirty="0" err="1"/>
              <a:t>préféré</a:t>
            </a:r>
            <a:r>
              <a:rPr dirty="0"/>
              <a:t> un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fini</a:t>
            </a:r>
            <a:r>
              <a:rPr dirty="0"/>
              <a:t> et </a:t>
            </a:r>
            <a:r>
              <a:rPr dirty="0" err="1"/>
              <a:t>testé</a:t>
            </a:r>
            <a:r>
              <a:rPr dirty="0"/>
              <a:t> sur un </a:t>
            </a:r>
            <a:r>
              <a:rPr dirty="0" err="1"/>
              <a:t>périmètre</a:t>
            </a:r>
            <a:r>
              <a:rPr dirty="0"/>
              <a:t> </a:t>
            </a:r>
            <a:r>
              <a:rPr dirty="0" err="1"/>
              <a:t>maîtrisé</a:t>
            </a:r>
            <a:r>
              <a:rPr dirty="0"/>
              <a:t>. »</a:t>
            </a:r>
          </a:p>
          <a:p>
            <a:r>
              <a:rPr dirty="0" err="1"/>
              <a:t>Enchaîner</a:t>
            </a:r>
            <a:r>
              <a:rPr dirty="0"/>
              <a:t> </a:t>
            </a:r>
            <a:r>
              <a:rPr dirty="0" err="1"/>
              <a:t>naturellement</a:t>
            </a:r>
            <a:r>
              <a:rPr dirty="0"/>
              <a:t> : « </a:t>
            </a:r>
            <a:r>
              <a:rPr dirty="0" err="1"/>
              <a:t>Voici</a:t>
            </a:r>
            <a:r>
              <a:rPr dirty="0"/>
              <a:t> </a:t>
            </a:r>
            <a:r>
              <a:rPr dirty="0" err="1"/>
              <a:t>justement</a:t>
            </a:r>
            <a:r>
              <a:rPr dirty="0"/>
              <a:t> comment </a:t>
            </a:r>
            <a:r>
              <a:rPr dirty="0" err="1"/>
              <a:t>j'irais</a:t>
            </a:r>
            <a:r>
              <a:rPr dirty="0"/>
              <a:t> plus loin.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~45 s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sais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</a:t>
            </a:r>
            <a:r>
              <a:rPr dirty="0" err="1"/>
              <a:t>aller</a:t>
            </a:r>
            <a:r>
              <a:rPr dirty="0"/>
              <a:t> ensuite.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Relier</a:t>
            </a:r>
            <a:r>
              <a:rPr dirty="0"/>
              <a:t> à </a:t>
            </a:r>
            <a:r>
              <a:rPr dirty="0" err="1"/>
              <a:t>l'architecture</a:t>
            </a:r>
            <a:r>
              <a:rPr dirty="0"/>
              <a:t> : « </a:t>
            </a:r>
            <a:r>
              <a:rPr dirty="0" err="1"/>
              <a:t>Ajouter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interface </a:t>
            </a:r>
            <a:r>
              <a:rPr dirty="0" err="1"/>
              <a:t>graphique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stratégie</a:t>
            </a:r>
            <a:r>
              <a:rPr dirty="0"/>
              <a:t> </a:t>
            </a:r>
            <a:r>
              <a:rPr dirty="0" err="1"/>
              <a:t>coûte</a:t>
            </a:r>
            <a:r>
              <a:rPr dirty="0"/>
              <a:t> peu, grâce au </a:t>
            </a:r>
            <a:r>
              <a:rPr dirty="0" err="1"/>
              <a:t>rangement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étages et au </a:t>
            </a:r>
            <a:r>
              <a:rPr dirty="0" err="1"/>
              <a:t>registre</a:t>
            </a:r>
            <a:r>
              <a:rPr dirty="0"/>
              <a:t>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Répondre</a:t>
            </a:r>
            <a:r>
              <a:rPr dirty="0"/>
              <a:t> à la question du </a:t>
            </a:r>
            <a:r>
              <a:rPr dirty="0" err="1"/>
              <a:t>sujet</a:t>
            </a:r>
            <a:r>
              <a:rPr dirty="0"/>
              <a:t> : </a:t>
            </a:r>
            <a:r>
              <a:rPr dirty="0" err="1"/>
              <a:t>qu'as-tu</a:t>
            </a:r>
            <a:r>
              <a:rPr dirty="0"/>
              <a:t> </a:t>
            </a:r>
            <a:r>
              <a:rPr dirty="0" err="1"/>
              <a:t>appris</a:t>
            </a:r>
            <a:r>
              <a:rPr dirty="0"/>
              <a:t>, est-</a:t>
            </a:r>
            <a:r>
              <a:rPr dirty="0" err="1"/>
              <a:t>ce</a:t>
            </a:r>
            <a:r>
              <a:rPr dirty="0"/>
              <a:t> utile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entreprise</a:t>
            </a:r>
            <a:r>
              <a:rPr dirty="0"/>
              <a:t> ?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sincère</a:t>
            </a:r>
            <a:r>
              <a:rPr dirty="0"/>
              <a:t> : « La </a:t>
            </a:r>
            <a:r>
              <a:rPr dirty="0" err="1"/>
              <a:t>vraie</a:t>
            </a:r>
            <a:r>
              <a:rPr dirty="0"/>
              <a:t> </a:t>
            </a:r>
            <a:r>
              <a:rPr dirty="0" err="1"/>
              <a:t>compétence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découper</a:t>
            </a:r>
            <a:r>
              <a:rPr dirty="0"/>
              <a:t> un </a:t>
            </a:r>
            <a:r>
              <a:rPr dirty="0" err="1"/>
              <a:t>problème</a:t>
            </a:r>
            <a:r>
              <a:rPr dirty="0"/>
              <a:t> et </a:t>
            </a:r>
            <a:r>
              <a:rPr dirty="0" err="1"/>
              <a:t>sécuriser</a:t>
            </a:r>
            <a:r>
              <a:rPr dirty="0"/>
              <a:t> par des tests — </a:t>
            </a:r>
            <a:r>
              <a:rPr dirty="0" err="1"/>
              <a:t>exactement</a:t>
            </a:r>
            <a:r>
              <a:rPr dirty="0"/>
              <a:t> le travail </a:t>
            </a:r>
            <a:r>
              <a:rPr dirty="0" err="1"/>
              <a:t>en</a:t>
            </a:r>
            <a:r>
              <a:rPr dirty="0"/>
              <a:t> équipe. »</a:t>
            </a:r>
          </a:p>
          <a:p>
            <a:r>
              <a:rPr dirty="0" err="1"/>
              <a:t>Ajouter</a:t>
            </a:r>
            <a:r>
              <a:rPr dirty="0"/>
              <a:t> : « Savoir </a:t>
            </a:r>
            <a:r>
              <a:rPr dirty="0" err="1"/>
              <a:t>diriger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IA, la </a:t>
            </a:r>
            <a:r>
              <a:rPr dirty="0" err="1"/>
              <a:t>relire</a:t>
            </a:r>
            <a:r>
              <a:rPr dirty="0"/>
              <a:t> et la </a:t>
            </a:r>
            <a:r>
              <a:rPr dirty="0" err="1"/>
              <a:t>valider</a:t>
            </a:r>
            <a:r>
              <a:rPr dirty="0"/>
              <a:t>, est </a:t>
            </a:r>
            <a:r>
              <a:rPr dirty="0" err="1"/>
              <a:t>devenu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compétence</a:t>
            </a:r>
            <a:r>
              <a:rPr dirty="0"/>
              <a:t> à part </a:t>
            </a:r>
            <a:r>
              <a:rPr dirty="0" err="1"/>
              <a:t>entière</a:t>
            </a:r>
            <a:r>
              <a:rPr dirty="0"/>
              <a:t>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~1 min 30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Section sensible ET </a:t>
            </a:r>
            <a:r>
              <a:rPr dirty="0" err="1"/>
              <a:t>notée</a:t>
            </a:r>
            <a:r>
              <a:rPr dirty="0"/>
              <a:t> (3 pts).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totalement</a:t>
            </a:r>
            <a:r>
              <a:rPr dirty="0"/>
              <a:t> transparent.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Message </a:t>
            </a:r>
            <a:r>
              <a:rPr dirty="0" err="1"/>
              <a:t>clé</a:t>
            </a:r>
            <a:r>
              <a:rPr dirty="0"/>
              <a:t> : « Tout est </a:t>
            </a:r>
            <a:r>
              <a:rPr dirty="0" err="1"/>
              <a:t>déclaré</a:t>
            </a:r>
            <a:r>
              <a:rPr dirty="0"/>
              <a:t>, prompts </a:t>
            </a:r>
            <a:r>
              <a:rPr dirty="0" err="1"/>
              <a:t>inclus</a:t>
            </a:r>
            <a:r>
              <a:rPr dirty="0"/>
              <a:t> dans la documentation — et je </a:t>
            </a:r>
            <a:r>
              <a:rPr dirty="0" err="1"/>
              <a:t>peux</a:t>
            </a:r>
            <a:r>
              <a:rPr dirty="0"/>
              <a:t> </a:t>
            </a:r>
            <a:r>
              <a:rPr dirty="0" err="1"/>
              <a:t>expliquer</a:t>
            </a:r>
            <a:r>
              <a:rPr dirty="0"/>
              <a:t>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partie</a:t>
            </a:r>
            <a:r>
              <a:rPr dirty="0"/>
              <a:t> du code. »</a:t>
            </a:r>
          </a:p>
          <a:p>
            <a:r>
              <a:rPr dirty="0"/>
              <a:t>Donner un </a:t>
            </a:r>
            <a:r>
              <a:rPr dirty="0" err="1"/>
              <a:t>exemple</a:t>
            </a:r>
            <a:r>
              <a:rPr dirty="0"/>
              <a:t> de pilotage : « </a:t>
            </a:r>
            <a:r>
              <a:rPr dirty="0" err="1"/>
              <a:t>C'est</a:t>
            </a:r>
            <a:r>
              <a:rPr dirty="0"/>
              <a:t> moi qui ai </a:t>
            </a:r>
            <a:r>
              <a:rPr dirty="0" err="1"/>
              <a:t>demandé</a:t>
            </a:r>
            <a:r>
              <a:rPr dirty="0"/>
              <a:t> les touches </a:t>
            </a:r>
            <a:r>
              <a:rPr dirty="0" err="1"/>
              <a:t>en</a:t>
            </a:r>
            <a:r>
              <a:rPr dirty="0"/>
              <a:t> français, le mode </a:t>
            </a:r>
            <a:r>
              <a:rPr dirty="0" err="1"/>
              <a:t>didacticiel</a:t>
            </a:r>
            <a:r>
              <a:rPr dirty="0"/>
              <a:t>, la musique. »</a:t>
            </a:r>
          </a:p>
          <a:p>
            <a:r>
              <a:rPr dirty="0"/>
              <a:t>Donner un </a:t>
            </a:r>
            <a:r>
              <a:rPr dirty="0" err="1"/>
              <a:t>exemple</a:t>
            </a:r>
            <a:r>
              <a:rPr dirty="0"/>
              <a:t> de </a:t>
            </a:r>
            <a:r>
              <a:rPr dirty="0" err="1"/>
              <a:t>refus</a:t>
            </a:r>
            <a:r>
              <a:rPr dirty="0"/>
              <a:t> : « </a:t>
            </a:r>
            <a:r>
              <a:rPr dirty="0" err="1"/>
              <a:t>J'ai</a:t>
            </a:r>
            <a:r>
              <a:rPr dirty="0"/>
              <a:t> </a:t>
            </a:r>
            <a:r>
              <a:rPr dirty="0" err="1"/>
              <a:t>refusé</a:t>
            </a:r>
            <a:r>
              <a:rPr dirty="0"/>
              <a:t> </a:t>
            </a:r>
            <a:r>
              <a:rPr dirty="0" err="1"/>
              <a:t>d'arrondir</a:t>
            </a:r>
            <a:r>
              <a:rPr dirty="0"/>
              <a:t> les gains, pour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fidèle</a:t>
            </a:r>
            <a:r>
              <a:rPr dirty="0"/>
              <a:t> aux </a:t>
            </a:r>
            <a:r>
              <a:rPr dirty="0" err="1"/>
              <a:t>vraies</a:t>
            </a:r>
            <a:r>
              <a:rPr dirty="0"/>
              <a:t> </a:t>
            </a:r>
            <a:r>
              <a:rPr dirty="0" err="1"/>
              <a:t>règles</a:t>
            </a:r>
            <a:r>
              <a:rPr dirty="0"/>
              <a:t>. »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Le </a:t>
            </a:r>
            <a:r>
              <a:rPr dirty="0" err="1"/>
              <a:t>sujet</a:t>
            </a:r>
            <a:r>
              <a:rPr dirty="0"/>
              <a:t> met un 0 à toute IA non </a:t>
            </a:r>
            <a:r>
              <a:rPr dirty="0" err="1"/>
              <a:t>déclarée</a:t>
            </a:r>
            <a:r>
              <a:rPr dirty="0"/>
              <a:t>. </a:t>
            </a:r>
            <a:r>
              <a:rPr dirty="0" err="1"/>
              <a:t>Ici</a:t>
            </a:r>
            <a:r>
              <a:rPr dirty="0"/>
              <a:t> on assume </a:t>
            </a:r>
            <a:r>
              <a:rPr dirty="0" err="1"/>
              <a:t>franchement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la bonne </a:t>
            </a:r>
            <a:r>
              <a:rPr dirty="0" err="1"/>
              <a:t>stratégie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Si le jury </a:t>
            </a:r>
            <a:r>
              <a:rPr dirty="0" err="1"/>
              <a:t>demande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« </a:t>
            </a:r>
            <a:r>
              <a:rPr dirty="0" err="1"/>
              <a:t>Qu'as-tu</a:t>
            </a:r>
            <a:r>
              <a:rPr dirty="0"/>
              <a:t> fait </a:t>
            </a:r>
            <a:r>
              <a:rPr dirty="0" err="1"/>
              <a:t>toi</a:t>
            </a:r>
            <a:r>
              <a:rPr dirty="0"/>
              <a:t>, </a:t>
            </a:r>
            <a:r>
              <a:rPr dirty="0" err="1"/>
              <a:t>exactement</a:t>
            </a:r>
            <a:r>
              <a:rPr dirty="0"/>
              <a:t> ? »  →  La conception, les </a:t>
            </a:r>
            <a:r>
              <a:rPr dirty="0" err="1"/>
              <a:t>décisions</a:t>
            </a:r>
            <a:r>
              <a:rPr dirty="0"/>
              <a:t>, la validation par le jeu et les 94 tests, et </a:t>
            </a:r>
            <a:r>
              <a:rPr dirty="0" err="1"/>
              <a:t>l'acceptation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le </a:t>
            </a:r>
            <a:r>
              <a:rPr dirty="0" err="1"/>
              <a:t>refus</a:t>
            </a:r>
            <a:r>
              <a:rPr dirty="0"/>
              <a:t> des propositions de </a:t>
            </a:r>
            <a:r>
              <a:rPr dirty="0" err="1"/>
              <a:t>l'IA</a:t>
            </a:r>
            <a:r>
              <a:rPr dirty="0"/>
              <a:t>.</a:t>
            </a:r>
          </a:p>
          <a:p>
            <a:r>
              <a:rPr dirty="0"/>
              <a:t>« </a:t>
            </a:r>
            <a:r>
              <a:rPr dirty="0" err="1"/>
              <a:t>Peux-tu</a:t>
            </a:r>
            <a:r>
              <a:rPr dirty="0"/>
              <a:t> </a:t>
            </a:r>
            <a:r>
              <a:rPr dirty="0" err="1"/>
              <a:t>expliquer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bout de code ? »  →  Oui — </a:t>
            </a:r>
            <a:r>
              <a:rPr dirty="0" err="1"/>
              <a:t>reprends</a:t>
            </a:r>
            <a:r>
              <a:rPr dirty="0"/>
              <a:t> </a:t>
            </a:r>
            <a:r>
              <a:rPr dirty="0" err="1"/>
              <a:t>l'exemple</a:t>
            </a:r>
            <a:r>
              <a:rPr dirty="0"/>
              <a:t> du </a:t>
            </a:r>
            <a:r>
              <a:rPr dirty="0" err="1"/>
              <a:t>comptage</a:t>
            </a:r>
            <a:r>
              <a:rPr dirty="0"/>
              <a:t> avec la carte </a:t>
            </a:r>
            <a:r>
              <a:rPr dirty="0" err="1"/>
              <a:t>cachée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du </a:t>
            </a:r>
            <a:r>
              <a:rPr dirty="0" err="1"/>
              <a:t>polymorphisme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~30 s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Crédibiliser</a:t>
            </a:r>
            <a:r>
              <a:rPr dirty="0"/>
              <a:t> : les tables et </a:t>
            </a:r>
            <a:r>
              <a:rPr dirty="0" err="1"/>
              <a:t>valeurs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</a:t>
            </a:r>
            <a:r>
              <a:rPr dirty="0" err="1"/>
              <a:t>inventées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Citer </a:t>
            </a:r>
            <a:r>
              <a:rPr dirty="0" err="1"/>
              <a:t>rapidement</a:t>
            </a:r>
            <a:r>
              <a:rPr dirty="0"/>
              <a:t> : « Les conseils du jeu </a:t>
            </a:r>
            <a:r>
              <a:rPr dirty="0" err="1"/>
              <a:t>viennent</a:t>
            </a:r>
            <a:r>
              <a:rPr dirty="0"/>
              <a:t> de livres de </a:t>
            </a:r>
            <a:r>
              <a:rPr dirty="0" err="1"/>
              <a:t>référence</a:t>
            </a:r>
            <a:r>
              <a:rPr dirty="0"/>
              <a:t>, </a:t>
            </a:r>
            <a:r>
              <a:rPr dirty="0" err="1"/>
              <a:t>recoupés</a:t>
            </a:r>
            <a:r>
              <a:rPr dirty="0"/>
              <a:t> avec des sources </a:t>
            </a:r>
            <a:r>
              <a:rPr dirty="0" err="1"/>
              <a:t>spécialisées</a:t>
            </a:r>
            <a:r>
              <a:rPr dirty="0"/>
              <a:t>. »</a:t>
            </a:r>
          </a:p>
          <a:p>
            <a:r>
              <a:rPr dirty="0"/>
              <a:t>Rappeler </a:t>
            </a:r>
            <a:r>
              <a:rPr dirty="0" err="1"/>
              <a:t>l'IA</a:t>
            </a:r>
            <a:r>
              <a:rPr dirty="0"/>
              <a:t> dans les sources,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demandé</a:t>
            </a:r>
            <a:r>
              <a:rPr dirty="0"/>
              <a:t> par le </a:t>
            </a:r>
            <a:r>
              <a:rPr dirty="0" err="1"/>
              <a:t>sujet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~45 s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Répondre</a:t>
            </a:r>
            <a:r>
              <a:rPr dirty="0"/>
              <a:t> au point du </a:t>
            </a:r>
            <a:r>
              <a:rPr dirty="0" err="1"/>
              <a:t>sujet</a:t>
            </a:r>
            <a:r>
              <a:rPr dirty="0"/>
              <a:t> «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auriez</a:t>
            </a:r>
            <a:r>
              <a:rPr dirty="0"/>
              <a:t> </a:t>
            </a:r>
            <a:r>
              <a:rPr dirty="0" err="1"/>
              <a:t>changé</a:t>
            </a:r>
            <a:r>
              <a:rPr dirty="0"/>
              <a:t>… </a:t>
            </a:r>
            <a:r>
              <a:rPr dirty="0" err="1"/>
              <a:t>ou</a:t>
            </a:r>
            <a:r>
              <a:rPr dirty="0"/>
              <a:t> pas ».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constructif</a:t>
            </a:r>
            <a:r>
              <a:rPr dirty="0"/>
              <a:t> et poli, pas de critique </a:t>
            </a:r>
            <a:r>
              <a:rPr dirty="0" err="1"/>
              <a:t>gratuite</a:t>
            </a:r>
            <a:r>
              <a:rPr dirty="0"/>
              <a:t>.</a:t>
            </a:r>
          </a:p>
          <a:p>
            <a:r>
              <a:rPr dirty="0" err="1"/>
              <a:t>Valoriser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</a:t>
            </a:r>
            <a:r>
              <a:rPr dirty="0" err="1"/>
              <a:t>marche</a:t>
            </a:r>
            <a:r>
              <a:rPr dirty="0"/>
              <a:t> (la liberté), proposer 1-2 </a:t>
            </a:r>
            <a:r>
              <a:rPr dirty="0" err="1"/>
              <a:t>améliorations</a:t>
            </a:r>
            <a:r>
              <a:rPr dirty="0"/>
              <a:t> </a:t>
            </a:r>
            <a:r>
              <a:rPr dirty="0" err="1"/>
              <a:t>concrètes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Montre du </a:t>
            </a:r>
            <a:r>
              <a:rPr dirty="0" err="1"/>
              <a:t>recul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apprécié</a:t>
            </a:r>
            <a:r>
              <a:rPr dirty="0"/>
              <a:t>. Termine sur du </a:t>
            </a:r>
            <a:r>
              <a:rPr dirty="0" err="1"/>
              <a:t>positif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~30 s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Boucler</a:t>
            </a:r>
            <a:r>
              <a:rPr dirty="0"/>
              <a:t> sur la </a:t>
            </a:r>
            <a:r>
              <a:rPr dirty="0" err="1"/>
              <a:t>promesse</a:t>
            </a:r>
            <a:r>
              <a:rPr dirty="0"/>
              <a:t> de </a:t>
            </a:r>
            <a:r>
              <a:rPr dirty="0" err="1"/>
              <a:t>départ</a:t>
            </a:r>
            <a:r>
              <a:rPr dirty="0"/>
              <a:t> et </a:t>
            </a:r>
            <a:r>
              <a:rPr dirty="0" err="1"/>
              <a:t>finir</a:t>
            </a:r>
            <a:r>
              <a:rPr dirty="0"/>
              <a:t> avec assurance.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Reprendre</a:t>
            </a:r>
            <a:r>
              <a:rPr dirty="0"/>
              <a:t> le fil : « </a:t>
            </a:r>
            <a:r>
              <a:rPr dirty="0" err="1"/>
              <a:t>apprendre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jouant</a:t>
            </a:r>
            <a:r>
              <a:rPr dirty="0"/>
              <a:t> », </a:t>
            </a:r>
            <a:r>
              <a:rPr dirty="0" err="1"/>
              <a:t>fini</a:t>
            </a:r>
            <a:r>
              <a:rPr dirty="0"/>
              <a:t>, </a:t>
            </a:r>
            <a:r>
              <a:rPr dirty="0" err="1"/>
              <a:t>testé</a:t>
            </a:r>
            <a:r>
              <a:rPr dirty="0"/>
              <a:t>, propre, IA </a:t>
            </a:r>
            <a:r>
              <a:rPr dirty="0" err="1"/>
              <a:t>déclarée</a:t>
            </a:r>
            <a:r>
              <a:rPr dirty="0"/>
              <a:t>.</a:t>
            </a:r>
          </a:p>
          <a:p>
            <a:r>
              <a:rPr dirty="0"/>
              <a:t>Phrase de </a:t>
            </a:r>
            <a:r>
              <a:rPr dirty="0" err="1"/>
              <a:t>clôture</a:t>
            </a:r>
            <a:r>
              <a:rPr dirty="0"/>
              <a:t> </a:t>
            </a:r>
            <a:r>
              <a:rPr dirty="0" err="1"/>
              <a:t>nette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enchaîner</a:t>
            </a:r>
            <a:r>
              <a:rPr dirty="0"/>
              <a:t> sur la </a:t>
            </a:r>
            <a:r>
              <a:rPr dirty="0" err="1"/>
              <a:t>diapo</a:t>
            </a:r>
            <a:r>
              <a:rPr dirty="0"/>
              <a:t> Questions.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Ne </a:t>
            </a:r>
            <a:r>
              <a:rPr dirty="0" err="1"/>
              <a:t>t'excuse</a:t>
            </a:r>
            <a:r>
              <a:rPr dirty="0"/>
              <a:t> pas, ne </a:t>
            </a:r>
            <a:r>
              <a:rPr dirty="0" err="1"/>
              <a:t>marmonne</a:t>
            </a:r>
            <a:r>
              <a:rPr dirty="0"/>
              <a:t> pas la fin : </a:t>
            </a:r>
            <a:r>
              <a:rPr dirty="0" err="1"/>
              <a:t>termine</a:t>
            </a:r>
            <a:r>
              <a:rPr dirty="0"/>
              <a:t> droit, </a:t>
            </a:r>
            <a:r>
              <a:rPr dirty="0" err="1"/>
              <a:t>en</a:t>
            </a:r>
            <a:r>
              <a:rPr dirty="0"/>
              <a:t> regardant le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5 à 10 min</a:t>
            </a:r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Échange</a:t>
            </a:r>
            <a:r>
              <a:rPr dirty="0"/>
              <a:t> avec le jury.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/>
              <a:t>Prendre le temps de bien </a:t>
            </a:r>
            <a:r>
              <a:rPr dirty="0" err="1"/>
              <a:t>écouter</a:t>
            </a:r>
            <a:r>
              <a:rPr dirty="0"/>
              <a:t> la question, </a:t>
            </a:r>
            <a:r>
              <a:rPr dirty="0" err="1"/>
              <a:t>reformuler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besoin</a:t>
            </a:r>
            <a:r>
              <a:rPr dirty="0"/>
              <a:t>.</a:t>
            </a:r>
          </a:p>
          <a:p>
            <a:r>
              <a:rPr dirty="0"/>
              <a:t>Si </a:t>
            </a:r>
            <a:r>
              <a:rPr dirty="0" err="1"/>
              <a:t>tu</a:t>
            </a:r>
            <a:r>
              <a:rPr dirty="0"/>
              <a:t> ne </a:t>
            </a:r>
            <a:r>
              <a:rPr dirty="0" err="1"/>
              <a:t>sais</a:t>
            </a:r>
            <a:r>
              <a:rPr dirty="0"/>
              <a:t> pas :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honnête</a:t>
            </a:r>
            <a:r>
              <a:rPr dirty="0"/>
              <a:t>, proposer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piste</a:t>
            </a:r>
            <a:r>
              <a:rPr dirty="0"/>
              <a:t> </a:t>
            </a:r>
            <a:r>
              <a:rPr dirty="0" err="1"/>
              <a:t>plutôt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d'inventer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Astuce</a:t>
            </a:r>
            <a:r>
              <a:rPr dirty="0"/>
              <a:t> </a:t>
            </a:r>
            <a:r>
              <a:rPr dirty="0" err="1"/>
              <a:t>orale</a:t>
            </a:r>
            <a:r>
              <a:rPr dirty="0"/>
              <a:t> : Garde la </a:t>
            </a:r>
            <a:r>
              <a:rPr dirty="0" err="1"/>
              <a:t>diapo</a:t>
            </a:r>
            <a:r>
              <a:rPr dirty="0"/>
              <a:t> </a:t>
            </a:r>
            <a:r>
              <a:rPr dirty="0" err="1"/>
              <a:t>Annexe</a:t>
            </a:r>
            <a:r>
              <a:rPr dirty="0"/>
              <a:t> (</a:t>
            </a:r>
            <a:r>
              <a:rPr dirty="0" err="1"/>
              <a:t>suivante</a:t>
            </a:r>
            <a:r>
              <a:rPr dirty="0"/>
              <a:t>) sous le </a:t>
            </a:r>
            <a:r>
              <a:rPr dirty="0" err="1"/>
              <a:t>coude</a:t>
            </a:r>
            <a:r>
              <a:rPr dirty="0"/>
              <a:t> pour les questions techniques </a:t>
            </a:r>
            <a:r>
              <a:rPr dirty="0" err="1"/>
              <a:t>pointues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Si le jury </a:t>
            </a:r>
            <a:r>
              <a:rPr dirty="0" err="1"/>
              <a:t>demande</a:t>
            </a:r>
            <a:r>
              <a:rPr dirty="0"/>
              <a:t> :</a:t>
            </a:r>
          </a:p>
          <a:p>
            <a:endParaRPr dirty="0"/>
          </a:p>
          <a:p>
            <a:r>
              <a:rPr dirty="0"/>
              <a:t>« </a:t>
            </a:r>
            <a:r>
              <a:rPr dirty="0" err="1"/>
              <a:t>Pourquoi</a:t>
            </a:r>
            <a:r>
              <a:rPr dirty="0"/>
              <a:t> la composition pour les </a:t>
            </a:r>
            <a:r>
              <a:rPr dirty="0" err="1"/>
              <a:t>comptages</a:t>
            </a:r>
            <a:r>
              <a:rPr dirty="0"/>
              <a:t> ? »  →  Voir la </a:t>
            </a:r>
            <a:r>
              <a:rPr dirty="0" err="1"/>
              <a:t>diapo</a:t>
            </a:r>
            <a:r>
              <a:rPr dirty="0"/>
              <a:t> « Choix techniques » : </a:t>
            </a:r>
            <a:r>
              <a:rPr dirty="0" err="1"/>
              <a:t>compter</a:t>
            </a:r>
            <a:r>
              <a:rPr dirty="0"/>
              <a:t> ≠ </a:t>
            </a:r>
            <a:r>
              <a:rPr dirty="0" err="1"/>
              <a:t>décider</a:t>
            </a:r>
            <a:r>
              <a:rPr dirty="0"/>
              <a:t>, on </a:t>
            </a:r>
            <a:r>
              <a:rPr dirty="0" err="1"/>
              <a:t>sépare</a:t>
            </a:r>
            <a:r>
              <a:rPr dirty="0"/>
              <a:t> les </a:t>
            </a:r>
            <a:r>
              <a:rPr dirty="0" err="1"/>
              <a:t>rôles</a:t>
            </a:r>
            <a:r>
              <a:rPr dirty="0"/>
              <a:t>.</a:t>
            </a:r>
          </a:p>
          <a:p>
            <a:r>
              <a:rPr dirty="0"/>
              <a:t>« Comment </a:t>
            </a:r>
            <a:r>
              <a:rPr dirty="0" err="1"/>
              <a:t>gères-tu</a:t>
            </a:r>
            <a:r>
              <a:rPr dirty="0"/>
              <a:t> la carte </a:t>
            </a:r>
            <a:r>
              <a:rPr dirty="0" err="1"/>
              <a:t>cachée</a:t>
            </a:r>
            <a:r>
              <a:rPr dirty="0"/>
              <a:t> du croupier ? »  →  Voir la </a:t>
            </a:r>
            <a:r>
              <a:rPr dirty="0" err="1"/>
              <a:t>diapo</a:t>
            </a:r>
            <a:r>
              <a:rPr dirty="0"/>
              <a:t> « Point </a:t>
            </a:r>
            <a:r>
              <a:rPr dirty="0" err="1"/>
              <a:t>délicat</a:t>
            </a:r>
            <a:r>
              <a:rPr dirty="0"/>
              <a:t> » : on l'« </a:t>
            </a:r>
            <a:r>
              <a:rPr dirty="0" err="1"/>
              <a:t>oublie</a:t>
            </a:r>
            <a:r>
              <a:rPr dirty="0"/>
              <a:t> » tant </a:t>
            </a:r>
            <a:r>
              <a:rPr dirty="0" err="1"/>
              <a:t>qu'elle</a:t>
            </a:r>
            <a:r>
              <a:rPr dirty="0"/>
              <a:t> est </a:t>
            </a:r>
            <a:r>
              <a:rPr dirty="0" err="1"/>
              <a:t>cachée</a:t>
            </a:r>
            <a:r>
              <a:rPr dirty="0"/>
              <a:t>.</a:t>
            </a:r>
          </a:p>
          <a:p>
            <a:r>
              <a:rPr dirty="0"/>
              <a:t>« </a:t>
            </a:r>
            <a:r>
              <a:rPr dirty="0" err="1"/>
              <a:t>Qu'as-tu</a:t>
            </a:r>
            <a:r>
              <a:rPr dirty="0"/>
              <a:t> fait </a:t>
            </a:r>
            <a:r>
              <a:rPr dirty="0" err="1"/>
              <a:t>toi</a:t>
            </a:r>
            <a:r>
              <a:rPr dirty="0"/>
              <a:t> vs </a:t>
            </a:r>
            <a:r>
              <a:rPr dirty="0" err="1"/>
              <a:t>l'IA</a:t>
            </a:r>
            <a:r>
              <a:rPr dirty="0"/>
              <a:t> ? »  →  Voir la </a:t>
            </a:r>
            <a:r>
              <a:rPr dirty="0" err="1"/>
              <a:t>diapo</a:t>
            </a:r>
            <a:r>
              <a:rPr dirty="0"/>
              <a:t> « Usage de </a:t>
            </a:r>
            <a:r>
              <a:rPr dirty="0" err="1"/>
              <a:t>l'IA</a:t>
            </a:r>
            <a:r>
              <a:rPr dirty="0"/>
              <a:t> » : conception, </a:t>
            </a:r>
            <a:r>
              <a:rPr dirty="0" err="1"/>
              <a:t>décisions</a:t>
            </a:r>
            <a:r>
              <a:rPr dirty="0"/>
              <a:t>, validation par le jeu et les tests.</a:t>
            </a:r>
          </a:p>
          <a:p>
            <a:r>
              <a:rPr dirty="0"/>
              <a:t>« </a:t>
            </a:r>
            <a:r>
              <a:rPr dirty="0" err="1"/>
              <a:t>Pourquoi</a:t>
            </a:r>
            <a:r>
              <a:rPr dirty="0"/>
              <a:t> pas </a:t>
            </a:r>
            <a:r>
              <a:rPr dirty="0" err="1"/>
              <a:t>d'interface</a:t>
            </a:r>
            <a:r>
              <a:rPr dirty="0"/>
              <a:t> </a:t>
            </a:r>
            <a:r>
              <a:rPr dirty="0" err="1"/>
              <a:t>graphique</a:t>
            </a:r>
            <a:r>
              <a:rPr dirty="0"/>
              <a:t> ? »  →  Choix de </a:t>
            </a:r>
            <a:r>
              <a:rPr dirty="0" err="1"/>
              <a:t>périmètre</a:t>
            </a:r>
            <a:r>
              <a:rPr dirty="0"/>
              <a:t> ; </a:t>
            </a:r>
            <a:r>
              <a:rPr dirty="0" err="1"/>
              <a:t>l'architecture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étages </a:t>
            </a:r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l'ajouter</a:t>
            </a:r>
            <a:r>
              <a:rPr dirty="0"/>
              <a:t> </a:t>
            </a:r>
            <a:r>
              <a:rPr dirty="0" err="1"/>
              <a:t>facilement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Durée indicative : à </a:t>
            </a:r>
            <a:r>
              <a:rPr dirty="0" err="1"/>
              <a:t>n'afficher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on </a:t>
            </a:r>
            <a:r>
              <a:rPr dirty="0" err="1"/>
              <a:t>te</a:t>
            </a:r>
            <a:r>
              <a:rPr dirty="0"/>
              <a:t> le </a:t>
            </a:r>
            <a:r>
              <a:rPr dirty="0" err="1"/>
              <a:t>demande</a:t>
            </a:r>
            <a:endParaRPr dirty="0"/>
          </a:p>
          <a:p>
            <a:endParaRPr dirty="0"/>
          </a:p>
          <a:p>
            <a:r>
              <a:rPr dirty="0"/>
              <a:t>But de la </a:t>
            </a:r>
            <a:r>
              <a:rPr dirty="0" err="1"/>
              <a:t>diapo</a:t>
            </a:r>
            <a:r>
              <a:rPr dirty="0"/>
              <a:t> : </a:t>
            </a:r>
            <a:r>
              <a:rPr dirty="0" err="1"/>
              <a:t>Diapo</a:t>
            </a:r>
            <a:r>
              <a:rPr dirty="0"/>
              <a:t> de SECOURS pour les questions techniques. Ne pas la </a:t>
            </a:r>
            <a:r>
              <a:rPr dirty="0" err="1"/>
              <a:t>présenter</a:t>
            </a:r>
            <a:r>
              <a:rPr dirty="0"/>
              <a:t> </a:t>
            </a:r>
            <a:r>
              <a:rPr dirty="0" err="1"/>
              <a:t>d'office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peux</a:t>
            </a:r>
            <a:r>
              <a:rPr dirty="0"/>
              <a:t> dire :</a:t>
            </a:r>
          </a:p>
          <a:p>
            <a:endParaRPr dirty="0"/>
          </a:p>
          <a:p>
            <a:r>
              <a:rPr dirty="0" err="1"/>
              <a:t>L'afficher</a:t>
            </a:r>
            <a:r>
              <a:rPr dirty="0"/>
              <a:t> </a:t>
            </a:r>
            <a:r>
              <a:rPr dirty="0" err="1"/>
              <a:t>seulement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le jury </a:t>
            </a:r>
            <a:r>
              <a:rPr dirty="0" err="1"/>
              <a:t>demande</a:t>
            </a:r>
            <a:r>
              <a:rPr dirty="0"/>
              <a:t> le </a:t>
            </a:r>
            <a:r>
              <a:rPr dirty="0" err="1"/>
              <a:t>détail</a:t>
            </a:r>
            <a:r>
              <a:rPr dirty="0"/>
              <a:t> des </a:t>
            </a:r>
            <a:r>
              <a:rPr dirty="0" err="1"/>
              <a:t>stratégies</a:t>
            </a:r>
            <a:r>
              <a:rPr dirty="0"/>
              <a:t>, des </a:t>
            </a:r>
            <a:r>
              <a:rPr dirty="0" err="1"/>
              <a:t>comptages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des </a:t>
            </a:r>
            <a:r>
              <a:rPr dirty="0" err="1"/>
              <a:t>règles</a:t>
            </a:r>
            <a:r>
              <a:rPr dirty="0"/>
              <a:t> </a:t>
            </a:r>
            <a:r>
              <a:rPr dirty="0" err="1"/>
              <a:t>exactes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916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spc="300">
                <a:solidFill>
                  <a:srgbClr val="C8A24B"/>
                </a:solidFill>
                <a:latin typeface="Calibri"/>
              </a:rPr>
              <a:t>PROJET NFP01 · PROGRAMMATION ORIENTÉE OBJET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402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DEFEA"/>
                </a:solidFill>
                <a:latin typeface="Georgia"/>
              </a:rPr>
              <a:t>Blackjack</a:t>
            </a:r>
          </a:p>
          <a:p>
            <a:pPr algn="ctr"/>
            <a:r>
              <a:rPr sz="2100" b="0" i="0">
                <a:solidFill>
                  <a:srgbClr val="C8A24B"/>
                </a:solidFill>
                <a:latin typeface="Calibri"/>
              </a:rPr>
              <a:t>Un jeu en Python pour apprendre à bien jouer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4247" y="3977639"/>
            <a:ext cx="2743200" cy="18288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0">
                <a:solidFill>
                  <a:srgbClr val="EDEFEA"/>
                </a:solidFill>
                <a:latin typeface="Calibri"/>
              </a:rPr>
              <a:t>Lilian Strub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93A39A"/>
                </a:solidFill>
                <a:latin typeface="Calibri"/>
              </a:rPr>
              <a:t>CNAM · 2025-2026 — Encadrant : Adrien Escourrou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473C"/>
                </a:solidFill>
                <a:latin typeface="Calibri"/>
              </a:rPr>
              <a:t>♠   ♥   ♦   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Au programme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Pourquoi ce projet : contexte et objectif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Le blackjack en 30 secondes (pour ceux qui ne connaissent pas)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Démonstration en direct du jeu (≈ 5 min)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Comment c'est construit : architecture et programmation objet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Tests, limites, et ce que le projet m'a apporté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Usage de l'IA, sources, puis vos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Pourquoi le blackjack 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Le blackjack est le seul jeu de casino où bien réfléchir peut donner l'avantage au joueur — pas seulement la chance.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Problème : un débutant ne sait pas quoi faire face à une main difficile.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1">
                <a:solidFill>
                  <a:srgbClr val="C8A24B"/>
                </a:solidFill>
                <a:latin typeface="Calibri"/>
              </a:rPr>
              <a:t>       En clair — </a:t>
            </a:r>
            <a:r>
              <a:rPr sz="1500" b="0" i="1">
                <a:solidFill>
                  <a:srgbClr val="EDEFEA"/>
                </a:solidFill>
                <a:latin typeface="Calibri"/>
              </a:rPr>
              <a:t>Faut-il demander une carte de plus au risque de dépasser 21, ou s'arrêter ? Personne ne le sait au début.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Et personne ne « voit » concrètement ce qu'est le comptage de cartes.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Public visé : à la fois les étudiants en programmation et les curieux du blackjack.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OBJECTIF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Ce que le projet vise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Rendre visibles toutes les façons de décider : la stratégie de base + 7 méthodes de comptage de cartes.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1">
                <a:solidFill>
                  <a:srgbClr val="C8A24B"/>
                </a:solidFill>
                <a:latin typeface="Calibri"/>
              </a:rPr>
              <a:t>       En clair — </a:t>
            </a:r>
            <a:r>
              <a:rPr sz="1500" b="0" i="1">
                <a:solidFill>
                  <a:srgbClr val="EDEFEA"/>
                </a:solidFill>
                <a:latin typeface="Calibri"/>
              </a:rPr>
              <a:t>Compter les cartes = repérer s'il reste beaucoup de grosses cartes à venir, pour miser plus au bon moment.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« Apprendre en jouant » : le conseil s'affiche, mais on reste libre de le suivre ou non.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Comparer : un mode « simulation » calcule quelle stratégie gagne le plus sur des milliers de mains.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Côté école : montrer en vrai les 3 grands principes de la programmation objet.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RAPPEL DES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Le blackjack en 30 secondes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296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But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avoir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main plus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proche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de 21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que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le croupier, sans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dépasser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21.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Valeur des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cartes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2 à 10 =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leur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chiffre ; Valet / Dame / Roi = 10 ; As = 1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ou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11 (au choix).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Le croupier a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carte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cachée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et doit continuer à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tirer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jusqu'à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atteindre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au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moins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17.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Tes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choix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Tirer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(1 carte de plus),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Rester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Doubler (×2 la mise + 1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seule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carte),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Séparer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paire</a:t>
            </a:r>
            <a:r>
              <a:rPr lang="fr-FR"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« Blackjack » = un As +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carte de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valeur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10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dès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départ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→ la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meilleure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main,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payée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3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contre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2.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1" dirty="0">
                <a:solidFill>
                  <a:srgbClr val="C8A24B"/>
                </a:solidFill>
                <a:latin typeface="Calibri"/>
              </a:rPr>
              <a:t>       En </a:t>
            </a:r>
            <a:r>
              <a:rPr sz="1500" b="1" i="1" dirty="0" err="1">
                <a:solidFill>
                  <a:srgbClr val="C8A24B"/>
                </a:solidFill>
                <a:latin typeface="Calibri"/>
              </a:rPr>
              <a:t>clair</a:t>
            </a:r>
            <a:r>
              <a:rPr sz="1500" b="1" i="1" dirty="0">
                <a:solidFill>
                  <a:srgbClr val="C8A24B"/>
                </a:solidFill>
                <a:latin typeface="Calibri"/>
              </a:rPr>
              <a:t> — </a:t>
            </a:r>
            <a:r>
              <a:rPr sz="1500" b="0" i="1" dirty="0" err="1">
                <a:solidFill>
                  <a:srgbClr val="EDEFEA"/>
                </a:solidFill>
                <a:latin typeface="Calibri"/>
              </a:rPr>
              <a:t>Dépasser</a:t>
            </a:r>
            <a:r>
              <a:rPr sz="1500" b="0" i="1" dirty="0">
                <a:solidFill>
                  <a:srgbClr val="EDEFEA"/>
                </a:solidFill>
                <a:latin typeface="Calibri"/>
              </a:rPr>
              <a:t> 21 = « bust » = perdu tout de suite.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DÉMARCHE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Comment le projet a été construit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3187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1.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Cadrage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choix du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sujet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des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règles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et du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périmètre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2. Le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moteur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de base : les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cartes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main (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calcul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du total), le sabot de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plusieurs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jeux.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3. Les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joueurs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et les 9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stratégies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décision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4. Le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déroulé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d'une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partie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manche,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puis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la session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complète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5.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L'interface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couleur (terminal), le mode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didacticiel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et les explications pas à pas.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6. Les bonus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comptages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simulation,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sauvegarde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musique,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journaux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7. Les tests (94) et la documentation.</a:t>
            </a:r>
            <a:endParaRPr lang="fr-FR" sz="2000" b="0" i="0" dirty="0">
              <a:solidFill>
                <a:srgbClr val="EDEFE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Démonstration en direct  (≈ 5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1330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1. Le menu,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puis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Didacticiel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jouer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manche avec le conseil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affiché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2. La mise « façon casino » (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jetons) et les records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sauvegardés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3. Comparer les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stratégies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un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résultat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chiffré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visible à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l'écran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Le menu principal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10512"/>
            <a:ext cx="10561320" cy="3977639"/>
          </a:xfrm>
          <a:prstGeom prst="roundRect">
            <a:avLst/>
          </a:prstGeom>
          <a:solidFill>
            <a:srgbClr val="081611"/>
          </a:solidFill>
          <a:ln w="12700">
            <a:solidFill>
              <a:srgbClr val="2C4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20040" tIns="182880" rtlCol="0" anchor="t"/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    ____  __           __        __         __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   / __ )/ /___ ______/ /__     / /___ ____/ /__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  / __  / / __ `/ ___/ //_/    / / __ `/ __  / //_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 / /_/ / / /_/ / /__/  '&lt;  /  / / /_/ / /_/ /  '&lt;/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/_____/_/\__,_/\___/_/|_|  \_/  \__,_/\__,_/_/|_|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╔════════════════════════════════════════════════╗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║   1   Démarrer une nouvelle partie               ║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║   2   Didacticiel — apprendre en jouant          ║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║   3   Règles du jeu                              ║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║   4   Comparer les stratégies (simulation)       ║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║   5   À propos / aide                            ║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║   6   Musique d'ambiance : activée               ║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║   0   Quitter                                    ║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╚════════════════════════════════════════════════╝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           Votre choix  ▸ 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93A39A"/>
                </a:solidFill>
                <a:latin typeface="Calibri"/>
              </a:rPr>
              <a:t>Interface en français, dans le terminal — pensée pour un débutant.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Le Didacticiel : le cœur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10512"/>
            <a:ext cx="10561320" cy="3977639"/>
          </a:xfrm>
          <a:prstGeom prst="roundRect">
            <a:avLst/>
          </a:prstGeom>
          <a:solidFill>
            <a:srgbClr val="081611"/>
          </a:solidFill>
          <a:ln w="12700">
            <a:solidFill>
              <a:srgbClr val="2C4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20040" tIns="182880" rtlCol="0" anchor="t"/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« Le croupier distribue les cartes… »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    VOUS                    CROUPIER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┌────┐ ┌────┐            ┌────┐ ┌────┐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│ A♠ │ │ 6♦ │            │ 9♣ │ │ ?? │   ← carte cachée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└────┘ └────┘            └────┘ └────┘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  Total : 17               Montre : 9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╭──────────────────────────────────────────╮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│      Conseil : Doubler   (D)               │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╰──────────────────────────────────────────╯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Actions :  [T] Tirer   [R] Rester   [D] Doubler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           [S] Séparer  [A] Abandonner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Votre action  ▸ 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93A39A"/>
                </a:solidFill>
                <a:latin typeface="Calibri"/>
              </a:rPr>
              <a:t>Le conseil s'affiche à chaque tour ; les touches sont en français (T/R/D/S/A).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Comparer les stratégies : un résultat chiffré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10512"/>
            <a:ext cx="10561320" cy="3977639"/>
          </a:xfrm>
          <a:prstGeom prst="roundRect">
            <a:avLst/>
          </a:prstGeom>
          <a:solidFill>
            <a:srgbClr val="081611"/>
          </a:solidFill>
          <a:ln w="12700">
            <a:solidFill>
              <a:srgbClr val="2C4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20040" tIns="182880" rtlCol="0" anchor="t"/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Comparaison — 2 000 manches jouées par un robot, par stratégie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┌────────────────┬───────────┬─────────┬────────────┐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│ Stratégie      │  Gain/main│   Win % │ Blackjacks │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├────────────────┼───────────┼─────────┼────────────┤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│ Stratégie base │   -0.0050 │  43.2 % │    4.7 %   │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│ Hi-Lo          │   +0.0041 │  43.5 % │    4.8 %   │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│ KO             │   +0.0034 │  43.4 % │    4.7 %   │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│ Omega II       │   +0.0057 │  43.6 % │    4.8 %   │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│ Zen Count      │   +0.0050 │  43.5 % │    4.8 %   │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└────────────────┴───────────┴─────────┴────────────┘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▸ Sans comptage : on perd un peu en moyenne (avantage casino).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▸ Avec comptage : on mise plus quand il reste des grosses cartes</a:t>
            </a:r>
          </a:p>
          <a:p>
            <a:pPr>
              <a:lnSpc>
                <a:spcPct val="100000"/>
              </a:lnSpc>
            </a:pPr>
            <a:r>
              <a:rPr sz="1350" b="0" i="0">
                <a:solidFill>
                  <a:srgbClr val="EDEFEA"/>
                </a:solidFill>
                <a:latin typeface="Consolas"/>
              </a:rPr>
              <a:t>     → le gain moyen peut repasser positif.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93A39A"/>
                </a:solidFill>
                <a:latin typeface="Calibri"/>
              </a:rPr>
              <a:t>« Gain/main » = ce qu'on gagne ou perd en moyenne par main. Valeurs d'exemple : les vraies s'affichent en lançant la simulation (menu → 4).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FONCTIONNALITÉS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Ce que le projet sait faire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2582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Blackjack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complet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tirer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rester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doubler,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séparer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assurance.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9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stratégies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au choix : 1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manuelle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1 de base, 7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comptages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(Hi-Lo, KO, Hi-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Opt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I/II, Omega II, Zen, Red 7).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Mise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conseillée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plus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élevée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quand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le sabot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devient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favorable.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Sauvegarde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&amp; reprise : ton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solde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tes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statistiques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et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tes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records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sont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gardés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d'une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partie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à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l'autre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Bonus : musique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d'ambiance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réglages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dans un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fichier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journaux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d'activité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Le code, rangé en étages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1874519"/>
            <a:ext cx="8138160" cy="786384"/>
          </a:xfrm>
          <a:prstGeom prst="roundRect">
            <a:avLst/>
          </a:prstGeom>
          <a:solidFill>
            <a:srgbClr val="081611"/>
          </a:solidFill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C8A24B"/>
                </a:solidFill>
                <a:latin typeface="Consolas"/>
              </a:rPr>
              <a:t>ui/   </a:t>
            </a:r>
            <a:r>
              <a:rPr sz="1350" b="0" i="0">
                <a:solidFill>
                  <a:srgbClr val="EDEFEA"/>
                </a:solidFill>
                <a:latin typeface="Calibri"/>
              </a:rPr>
              <a:t>— ce que l'on voit : affichage, menus, couleurs, musique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807208"/>
            <a:ext cx="8138160" cy="786384"/>
          </a:xfrm>
          <a:prstGeom prst="roundRect">
            <a:avLst/>
          </a:prstGeom>
          <a:solidFill>
            <a:srgbClr val="081611"/>
          </a:solidFill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C8A24B"/>
                </a:solidFill>
                <a:latin typeface="Consolas"/>
              </a:rPr>
              <a:t>game/   </a:t>
            </a:r>
            <a:r>
              <a:rPr sz="1350" b="0" i="0">
                <a:solidFill>
                  <a:srgbClr val="EDEFEA"/>
                </a:solidFill>
                <a:latin typeface="Calibri"/>
              </a:rPr>
              <a:t>— le déroulé : règles, une manche, la partie, les stats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739896"/>
            <a:ext cx="8138160" cy="786384"/>
          </a:xfrm>
          <a:prstGeom prst="roundRect">
            <a:avLst/>
          </a:prstGeom>
          <a:solidFill>
            <a:srgbClr val="081611"/>
          </a:solidFill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C8A24B"/>
                </a:solidFill>
                <a:latin typeface="Consolas"/>
              </a:rPr>
              <a:t>players/ + strategies/   </a:t>
            </a:r>
            <a:r>
              <a:rPr sz="1350" b="0" i="0">
                <a:solidFill>
                  <a:srgbClr val="EDEFEA"/>
                </a:solidFill>
                <a:latin typeface="Calibri"/>
              </a:rPr>
              <a:t>— les joueurs et les 9 façons de décider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672583"/>
            <a:ext cx="8138160" cy="786384"/>
          </a:xfrm>
          <a:prstGeom prst="roundRect">
            <a:avLst/>
          </a:prstGeom>
          <a:solidFill>
            <a:srgbClr val="081611"/>
          </a:solidFill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C8A24B"/>
                </a:solidFill>
                <a:latin typeface="Consolas"/>
              </a:rPr>
              <a:t>core/   </a:t>
            </a:r>
            <a:r>
              <a:rPr sz="1350" b="0" i="0">
                <a:solidFill>
                  <a:srgbClr val="EDEFEA"/>
                </a:solidFill>
                <a:latin typeface="Calibri"/>
              </a:rPr>
              <a:t>— les briques de base : cartes, main, sabot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51560" y="1874519"/>
            <a:ext cx="502920" cy="3584448"/>
          </a:xfrm>
          <a:prstGeom prst="downArrow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EDEFEA"/>
                </a:solidFill>
                <a:latin typeface="Calibri"/>
              </a:rPr>
              <a:t>dépend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93A39A"/>
                </a:solidFill>
                <a:latin typeface="Calibri"/>
              </a:rPr>
              <a:t>utils/ (journaux, configuration) sert partout · chaque étage ne dépend que des étages du dessous.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PROGRAMMATION OBJET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Les 3 principes de la programmation objet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Héritage : des classes « filles » réutilisent le code d'une classe « mère 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1">
                <a:solidFill>
                  <a:srgbClr val="C8A24B"/>
                </a:solidFill>
                <a:latin typeface="Calibri"/>
              </a:rPr>
              <a:t>       En clair — </a:t>
            </a:r>
            <a:r>
              <a:rPr sz="1500" b="0" i="1">
                <a:solidFill>
                  <a:srgbClr val="EDEFEA"/>
                </a:solidFill>
                <a:latin typeface="Calibri"/>
              </a:rPr>
              <a:t>Dealer et HumanPlayer héritent tous deux de BasePlayer : ils partagent la base et ajoutent leurs différences.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Polymorphisme : un même appel donne un comportement différent selon l'objet.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1">
                <a:solidFill>
                  <a:srgbClr val="C8A24B"/>
                </a:solidFill>
                <a:latin typeface="Calibri"/>
              </a:rPr>
              <a:t>       En clair — </a:t>
            </a:r>
            <a:r>
              <a:rPr sz="1500" b="0" i="1">
                <a:solidFill>
                  <a:srgbClr val="EDEFEA"/>
                </a:solidFill>
                <a:latin typeface="Calibri"/>
              </a:rPr>
              <a:t>Le jeu dit toujours « donne-moi ton conseil » ; selon la stratégie choisie, la réponse change toute seule.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Encapsulation : les données sensibles sont protégées derrière des fonctions.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1">
                <a:solidFill>
                  <a:srgbClr val="C8A24B"/>
                </a:solidFill>
                <a:latin typeface="Calibri"/>
              </a:rPr>
              <a:t>       En clair — </a:t>
            </a:r>
            <a:r>
              <a:rPr sz="1500" b="0" i="1">
                <a:solidFill>
                  <a:srgbClr val="EDEFEA"/>
                </a:solidFill>
                <a:latin typeface="Calibri"/>
              </a:rPr>
              <a:t>On ne peut pas trafiquer le solde directement : on passe par des fonctions qui vérifient (credit / debit).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CHOIX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Des choix réfléchis (pas par hasard)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Un « registre » central des stratégies : ajouter une nouvelle stratégie = ajouter une seule ligne.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Pour les comptages, j'utilise la composition plutôt que l'héritage.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1">
                <a:solidFill>
                  <a:srgbClr val="C8A24B"/>
                </a:solidFill>
                <a:latin typeface="Calibri"/>
              </a:rPr>
              <a:t>       En clair — </a:t>
            </a:r>
            <a:r>
              <a:rPr sz="1500" b="0" i="1">
                <a:solidFill>
                  <a:srgbClr val="EDEFEA"/>
                </a:solidFill>
                <a:latin typeface="Calibri"/>
              </a:rPr>
              <a:t>Un comptage CONTIENT une stratégie de base (il s'en sert) au lieu d'en hériter → code plus simple à comprendre.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Des outils Python qui évitent le code répétitif (dataclass, énumérations).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Très peu de librairies externes : 2 pour l'affichage, le reste en Python « pur ».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Les règles du jeu sont dans un fichier à part (configuration), pas mélangées au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POINT DÉLICAT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Le piège du comptage : la carte cachée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Pour compter juste, on ne doit compter QUE les cartes réellement vues.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Or le croupier a une carte face cachée : elle est distribuée, mais invisible.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Le programme « oublie » cette carte tant qu'elle est cachée, puis la « recompte » quand elle est retournée.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1">
                <a:solidFill>
                  <a:srgbClr val="C8A24B"/>
                </a:solidFill>
                <a:latin typeface="Calibri"/>
              </a:rPr>
              <a:t>       En clair — </a:t>
            </a:r>
            <a:r>
              <a:rPr sz="1500" b="0" i="1">
                <a:solidFill>
                  <a:srgbClr val="EDEFEA"/>
                </a:solidFill>
                <a:latin typeface="Calibri"/>
              </a:rPr>
              <a:t>Sans cette correction, le comptage serait faussé à chaque main.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VALIDATION &amp;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Tests : 94 vérifications automatiques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259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94 tests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automatiques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qui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contrôlent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le jeu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moins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d'une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seconde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1" dirty="0">
                <a:solidFill>
                  <a:srgbClr val="C8A24B"/>
                </a:solidFill>
                <a:latin typeface="Calibri"/>
              </a:rPr>
              <a:t>       En </a:t>
            </a:r>
            <a:r>
              <a:rPr sz="1500" b="1" i="1" dirty="0" err="1">
                <a:solidFill>
                  <a:srgbClr val="C8A24B"/>
                </a:solidFill>
                <a:latin typeface="Calibri"/>
              </a:rPr>
              <a:t>clair</a:t>
            </a:r>
            <a:r>
              <a:rPr sz="1500" b="1" i="1" dirty="0">
                <a:solidFill>
                  <a:srgbClr val="C8A24B"/>
                </a:solidFill>
                <a:latin typeface="Calibri"/>
              </a:rPr>
              <a:t> — </a:t>
            </a:r>
            <a:r>
              <a:rPr sz="1500" b="0" i="1" dirty="0">
                <a:solidFill>
                  <a:srgbClr val="EDEFEA"/>
                </a:solidFill>
                <a:latin typeface="Calibri"/>
              </a:rPr>
              <a:t>Un test = un petit </a:t>
            </a:r>
            <a:r>
              <a:rPr sz="1500" b="0" i="1" dirty="0" err="1">
                <a:solidFill>
                  <a:srgbClr val="EDEFEA"/>
                </a:solidFill>
                <a:latin typeface="Calibri"/>
              </a:rPr>
              <a:t>programme</a:t>
            </a:r>
            <a:r>
              <a:rPr sz="1500" b="0" i="1" dirty="0">
                <a:solidFill>
                  <a:srgbClr val="EDEFEA"/>
                </a:solidFill>
                <a:latin typeface="Calibri"/>
              </a:rPr>
              <a:t> qui </a:t>
            </a:r>
            <a:r>
              <a:rPr sz="1500" b="0" i="1" dirty="0" err="1">
                <a:solidFill>
                  <a:srgbClr val="EDEFEA"/>
                </a:solidFill>
                <a:latin typeface="Calibri"/>
              </a:rPr>
              <a:t>vérifie</a:t>
            </a:r>
            <a:r>
              <a:rPr sz="1500" b="0" i="1" dirty="0">
                <a:solidFill>
                  <a:srgbClr val="EDEFEA"/>
                </a:solidFill>
                <a:latin typeface="Calibri"/>
              </a:rPr>
              <a:t> tout seul </a:t>
            </a:r>
            <a:r>
              <a:rPr sz="1500" b="0" i="1" dirty="0" err="1">
                <a:solidFill>
                  <a:srgbClr val="EDEFEA"/>
                </a:solidFill>
                <a:latin typeface="Calibri"/>
              </a:rPr>
              <a:t>qu'une</a:t>
            </a:r>
            <a:r>
              <a:rPr sz="1500" b="0" i="1" dirty="0">
                <a:solidFill>
                  <a:srgbClr val="EDEFEA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EDEFEA"/>
                </a:solidFill>
                <a:latin typeface="Calibri"/>
              </a:rPr>
              <a:t>partie</a:t>
            </a:r>
            <a:r>
              <a:rPr sz="1500" b="0" i="1" dirty="0">
                <a:solidFill>
                  <a:srgbClr val="EDEFEA"/>
                </a:solidFill>
                <a:latin typeface="Calibri"/>
              </a:rPr>
              <a:t> du code fait bien </a:t>
            </a:r>
            <a:r>
              <a:rPr sz="1500" b="0" i="1" dirty="0" err="1">
                <a:solidFill>
                  <a:srgbClr val="EDEFEA"/>
                </a:solidFill>
                <a:latin typeface="Calibri"/>
              </a:rPr>
              <a:t>ce</a:t>
            </a:r>
            <a:r>
              <a:rPr sz="1500" b="0" i="1" dirty="0">
                <a:solidFill>
                  <a:srgbClr val="EDEFEA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EDEFEA"/>
                </a:solidFill>
                <a:latin typeface="Calibri"/>
              </a:rPr>
              <a:t>qu'on</a:t>
            </a:r>
            <a:r>
              <a:rPr sz="1500" b="0" i="1" dirty="0">
                <a:solidFill>
                  <a:srgbClr val="EDEFEA"/>
                </a:solidFill>
                <a:latin typeface="Calibri"/>
              </a:rPr>
              <a:t> attend.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Ils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vérifient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règles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valeur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des mains, gains (blackjack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payé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3:2, égalité,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dépassement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Ils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contrôlent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valeurs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comptages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et le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cas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délicat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de la carte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cachée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Ils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testent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la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sauvegarde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et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jouent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200 mains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d'affilée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sans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aucun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plantage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Commande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 python</a:t>
            </a:r>
            <a:r>
              <a:rPr lang="fr-FR" sz="2000" b="0" i="0" dirty="0">
                <a:solidFill>
                  <a:srgbClr val="EDEFEA"/>
                </a:solidFill>
                <a:latin typeface="Calibri"/>
              </a:rPr>
              <a:t>3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-m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unittest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discover -s tests -v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Limites assumées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Pas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d'interface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graphique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tout se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joue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dans le terminal (mode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texte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Les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comptages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changent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la mise,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mais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pas encore la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décision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de jeu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selon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comptage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Quelques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options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avancées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de casino ne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sont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pas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gérées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(ex. « even money »).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Pas de mode à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plusieurs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joueurs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sur la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même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Pistes pour aller plus loin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Faire dévier la décision selon le comptage (le vrai jeu d'un compteur expert).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Ajouter une interface graphique ou web (l'architecture en étages le permet facilement).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Un mode à plusieurs joueurs.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Exporter les statistiques (tableur, graphiques) pour analyser les simulations.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Ce que j'en retire — et l'entreprise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2259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La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programmation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objet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est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devenue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concrète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héritage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polymorphisme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encapsulation.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J'ai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appris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à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découper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un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problème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responsabilités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claires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Le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réflexe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des tests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vérifier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automatiquement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et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oser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modifier sans tout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casser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Des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outils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« pro » : packaging, </a:t>
            </a:r>
            <a:r>
              <a:rPr lang="fr-FR" sz="2000" b="0" i="0" dirty="0">
                <a:solidFill>
                  <a:srgbClr val="EDEFEA"/>
                </a:solidFill>
                <a:latin typeface="Calibri"/>
              </a:rPr>
              <a:t>utilisation de Git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configuration,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journaux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Utile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entreprise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code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organisé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testé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et savoir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piloter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IA (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cadrer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relire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valider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USAGE DE L'IA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Usage de l'IA — déclaré ouvertement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Outil : Claude (Anthropic), via Claude Code. Aucun autre.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Ampleur : la quasi-totalité du code et de la doc a été générée avec l'IA — toujours sous ma direction.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L'IA a fait : génération de code, corrections de bugs, tests, relecture, rédaction.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J'ai dirigé : le sujet, le périmètre, l'architecture, les choix de règles.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J'ai compris, testé et validé chaque partie — et j'ai parfois refusé des propositions.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Déclaré dans le README, la doc PDF, et en-tête des fichiers (# CODE IA).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RÉFÉRENCES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E. O. Thorp — Beat the Dealer (1962) : fondements de la stratégie et du comptage.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S. Wong — Professional Blackjack ; D. Schlesinger — Blackjack Attack.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A. Snyder — Blackbelt in Blackjack (Zen, Red 7) ; B. Carlson — Blackjack for Blood (Omega II).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Vancura &amp; Fuchs — Knock-Out Blackjack (KO).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Documentation Python officielle ; cours NFP01 (A. Escourrou).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IA : Claude (Anthropic) — Claude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RETOUR SUR L'ÉNONCÉ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Ce que j'aurais changé dans le sujet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La liberté totale du sujet est un vrai atout — à garder.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J'aurais aimé un modèle imposé pour le support oral et un exemple de barème détaillé.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Préciser le poids attendu de la démo par rapport à la partie technique aiderait à doser le temps.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Sinon : un sujet clair, exigeant et formateur.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En résumé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1795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Un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projet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FINI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jouable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testé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(94 tests),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documenté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Une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vraie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utilité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: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apprendre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le blackjack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jouant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et voir les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stratégies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à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l'œuvre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Un code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objet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propre qui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illustre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héritage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polymorphisme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et encapsulation.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 dirty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Une IA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pilotée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relue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et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déclarée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de bout </a:t>
            </a:r>
            <a:r>
              <a:rPr sz="2000" b="0" i="0" dirty="0" err="1">
                <a:solidFill>
                  <a:srgbClr val="EDEFEA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EDEFEA"/>
                </a:solidFill>
                <a:latin typeface="Calibri"/>
              </a:rPr>
              <a:t> bout</a:t>
            </a:r>
            <a:r>
              <a:rPr lang="fr-FR" sz="2000">
                <a:solidFill>
                  <a:srgbClr val="EDEFEA"/>
                </a:solidFill>
                <a:latin typeface="Calibri"/>
              </a:rPr>
              <a:t>.</a:t>
            </a:r>
            <a:endParaRPr sz="2000" b="0" i="0" dirty="0">
              <a:solidFill>
                <a:srgbClr val="EDEFE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DEFEA"/>
                </a:solidFill>
                <a:latin typeface="Georgia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703320"/>
            <a:ext cx="2743200" cy="18288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86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8A24B"/>
                </a:solidFill>
                <a:latin typeface="Calibri"/>
              </a:rPr>
              <a:t>Merci de votre attention</a:t>
            </a:r>
          </a:p>
          <a:p>
            <a:pPr algn="ctr"/>
            <a:r>
              <a:rPr sz="1400" b="0" i="1">
                <a:solidFill>
                  <a:srgbClr val="93A39A"/>
                </a:solidFill>
                <a:latin typeface="Calibri"/>
              </a:rPr>
              <a:t>Lilian Strub · Blackjack POO · NFP01 — CNAM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475488"/>
            <a:ext cx="384048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220">
                <a:solidFill>
                  <a:srgbClr val="C8A24B"/>
                </a:solidFill>
                <a:latin typeface="Calibr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850392"/>
            <a:ext cx="10561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EDEFEA"/>
                </a:solidFill>
                <a:latin typeface="Georgia"/>
              </a:rPr>
              <a:t>Les 9 stratégies &amp; règles de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91056"/>
            <a:ext cx="10561320" cy="16459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Sans comptage : Manuelle (aucune aide) · Stratégie de Base.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Comptages simples : Hi-Lo · KO · Hi-Opt I · Red 7.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Comptages avancés : Hi-Opt II · Omega II · Zen Count.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Exemple Hi-Lo : cartes 2-6 → +1 · 7-9 → 0 · 10-As → -1 (le total retombe à 0 sur un jeu complet).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000" b="1" i="0">
                <a:solidFill>
                  <a:srgbClr val="C8A24B"/>
                </a:solidFill>
                <a:latin typeface="Calibri"/>
              </a:rPr>
              <a:t>—  </a:t>
            </a:r>
            <a:r>
              <a:rPr sz="2000" b="0" i="0">
                <a:solidFill>
                  <a:srgbClr val="EDEFEA"/>
                </a:solidFill>
                <a:latin typeface="Calibri"/>
              </a:rPr>
              <a:t>Règles par défaut : 6 jeux de cartes, le croupier reste à 17, blackjack payé 3:2.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 i="1">
                <a:solidFill>
                  <a:srgbClr val="C8A24B"/>
                </a:solidFill>
                <a:latin typeface="Calibri"/>
              </a:rPr>
              <a:t>       En clair — </a:t>
            </a:r>
            <a:r>
              <a:rPr sz="1500" b="0" i="1">
                <a:solidFill>
                  <a:srgbClr val="EDEFEA"/>
                </a:solidFill>
                <a:latin typeface="Calibri"/>
              </a:rPr>
              <a:t>On joue 75 % du sabot avant de remélanger (« pénétration »).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561320" cy="12801"/>
          </a:xfrm>
          <a:prstGeom prst="rect">
            <a:avLst/>
          </a:prstGeom>
          <a:solidFill>
            <a:srgbClr val="2C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3A39A"/>
                </a:solidFill>
                <a:latin typeface="Calibri"/>
              </a:rPr>
              <a:t>Blackjack POO · Lilian Strub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18562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3A39A"/>
                </a:solidFill>
                <a:latin typeface="Calibri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5439</Words>
  <Application>Microsoft Macintosh PowerPoint</Application>
  <PresentationFormat>Grand écran</PresentationFormat>
  <Paragraphs>544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Lilian Strub</cp:lastModifiedBy>
  <cp:revision>12</cp:revision>
  <dcterms:created xsi:type="dcterms:W3CDTF">2013-01-27T09:14:16Z</dcterms:created>
  <dcterms:modified xsi:type="dcterms:W3CDTF">2026-06-05T06:32:51Z</dcterms:modified>
  <cp:category/>
</cp:coreProperties>
</file>